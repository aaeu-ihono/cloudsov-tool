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534C69-97E2-4815-8822-5B629E3F533A}" v="15" dt="2026-09-21T12:03:40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honosetale Oseghale" userId="b1c3f33a-470a-45b8-9def-2cfcd8b1ae0a" providerId="ADAL" clId="{B0BAAFC9-0A00-41D8-8861-6E2A4290657B}"/>
    <pc:docChg chg="custSel addSld modSld">
      <pc:chgData name="Ihonosetale Oseghale" userId="b1c3f33a-470a-45b8-9def-2cfcd8b1ae0a" providerId="ADAL" clId="{B0BAAFC9-0A00-41D8-8861-6E2A4290657B}" dt="2026-09-21T12:05:06.619" v="915" actId="20577"/>
      <pc:docMkLst>
        <pc:docMk/>
      </pc:docMkLst>
      <pc:sldChg chg="modSp mod modNotesTx">
        <pc:chgData name="Ihonosetale Oseghale" userId="b1c3f33a-470a-45b8-9def-2cfcd8b1ae0a" providerId="ADAL" clId="{B0BAAFC9-0A00-41D8-8861-6E2A4290657B}" dt="2026-09-21T09:56:08.139" v="672" actId="20577"/>
        <pc:sldMkLst>
          <pc:docMk/>
          <pc:sldMk cId="1353900771" sldId="256"/>
        </pc:sldMkLst>
        <pc:spChg chg="mod">
          <ac:chgData name="Ihonosetale Oseghale" userId="b1c3f33a-470a-45b8-9def-2cfcd8b1ae0a" providerId="ADAL" clId="{B0BAAFC9-0A00-41D8-8861-6E2A4290657B}" dt="2026-09-21T09:55:57.894" v="662" actId="33524"/>
          <ac:spMkLst>
            <pc:docMk/>
            <pc:sldMk cId="1353900771" sldId="256"/>
            <ac:spMk id="2" creationId="{41258CAF-4EFF-8A16-5A7E-BAA680E40977}"/>
          </ac:spMkLst>
        </pc:spChg>
        <pc:spChg chg="mod">
          <ac:chgData name="Ihonosetale Oseghale" userId="b1c3f33a-470a-45b8-9def-2cfcd8b1ae0a" providerId="ADAL" clId="{B0BAAFC9-0A00-41D8-8861-6E2A4290657B}" dt="2026-09-21T09:56:08.139" v="672" actId="20577"/>
          <ac:spMkLst>
            <pc:docMk/>
            <pc:sldMk cId="1353900771" sldId="256"/>
            <ac:spMk id="3" creationId="{8C18058E-6E02-1EF3-2D2A-9B3204E7ED38}"/>
          </ac:spMkLst>
        </pc:spChg>
      </pc:sldChg>
      <pc:sldChg chg="modSp mod">
        <pc:chgData name="Ihonosetale Oseghale" userId="b1c3f33a-470a-45b8-9def-2cfcd8b1ae0a" providerId="ADAL" clId="{B0BAAFC9-0A00-41D8-8861-6E2A4290657B}" dt="2026-09-21T09:32:09.318" v="60" actId="20577"/>
        <pc:sldMkLst>
          <pc:docMk/>
          <pc:sldMk cId="3653904438" sldId="257"/>
        </pc:sldMkLst>
        <pc:spChg chg="mod">
          <ac:chgData name="Ihonosetale Oseghale" userId="b1c3f33a-470a-45b8-9def-2cfcd8b1ae0a" providerId="ADAL" clId="{B0BAAFC9-0A00-41D8-8861-6E2A4290657B}" dt="2026-09-21T09:32:09.318" v="60" actId="20577"/>
          <ac:spMkLst>
            <pc:docMk/>
            <pc:sldMk cId="3653904438" sldId="257"/>
            <ac:spMk id="3" creationId="{4753B22E-4F5F-A362-9759-FA2DFCEF07C4}"/>
          </ac:spMkLst>
        </pc:spChg>
      </pc:sldChg>
      <pc:sldChg chg="modSp mod">
        <pc:chgData name="Ihonosetale Oseghale" userId="b1c3f33a-470a-45b8-9def-2cfcd8b1ae0a" providerId="ADAL" clId="{B0BAAFC9-0A00-41D8-8861-6E2A4290657B}" dt="2026-09-21T09:34:23.771" v="150" actId="20577"/>
        <pc:sldMkLst>
          <pc:docMk/>
          <pc:sldMk cId="3790252716" sldId="262"/>
        </pc:sldMkLst>
        <pc:spChg chg="mod">
          <ac:chgData name="Ihonosetale Oseghale" userId="b1c3f33a-470a-45b8-9def-2cfcd8b1ae0a" providerId="ADAL" clId="{B0BAAFC9-0A00-41D8-8861-6E2A4290657B}" dt="2026-09-21T09:32:37.252" v="61" actId="20577"/>
          <ac:spMkLst>
            <pc:docMk/>
            <pc:sldMk cId="3790252716" sldId="262"/>
            <ac:spMk id="2" creationId="{188539CD-E15A-124F-F3C1-7AC56DF4C576}"/>
          </ac:spMkLst>
        </pc:spChg>
        <pc:spChg chg="mod">
          <ac:chgData name="Ihonosetale Oseghale" userId="b1c3f33a-470a-45b8-9def-2cfcd8b1ae0a" providerId="ADAL" clId="{B0BAAFC9-0A00-41D8-8861-6E2A4290657B}" dt="2026-09-21T09:34:23.771" v="150" actId="20577"/>
          <ac:spMkLst>
            <pc:docMk/>
            <pc:sldMk cId="3790252716" sldId="262"/>
            <ac:spMk id="3" creationId="{72441C31-5972-855B-E933-15C15F0E42D4}"/>
          </ac:spMkLst>
        </pc:spChg>
      </pc:sldChg>
      <pc:sldChg chg="modSp new mod">
        <pc:chgData name="Ihonosetale Oseghale" userId="b1c3f33a-470a-45b8-9def-2cfcd8b1ae0a" providerId="ADAL" clId="{B0BAAFC9-0A00-41D8-8861-6E2A4290657B}" dt="2026-09-21T12:05:06.619" v="915" actId="20577"/>
        <pc:sldMkLst>
          <pc:docMk/>
          <pc:sldMk cId="1067656889" sldId="263"/>
        </pc:sldMkLst>
        <pc:spChg chg="mod">
          <ac:chgData name="Ihonosetale Oseghale" userId="b1c3f33a-470a-45b8-9def-2cfcd8b1ae0a" providerId="ADAL" clId="{B0BAAFC9-0A00-41D8-8861-6E2A4290657B}" dt="2026-09-21T09:48:13.198" v="246" actId="20577"/>
          <ac:spMkLst>
            <pc:docMk/>
            <pc:sldMk cId="1067656889" sldId="263"/>
            <ac:spMk id="2" creationId="{F90DF10D-39C1-EF29-E2D4-58F5EF93E4AB}"/>
          </ac:spMkLst>
        </pc:spChg>
        <pc:spChg chg="mod">
          <ac:chgData name="Ihonosetale Oseghale" userId="b1c3f33a-470a-45b8-9def-2cfcd8b1ae0a" providerId="ADAL" clId="{B0BAAFC9-0A00-41D8-8861-6E2A4290657B}" dt="2026-09-21T12:05:06.619" v="915" actId="20577"/>
          <ac:spMkLst>
            <pc:docMk/>
            <pc:sldMk cId="1067656889" sldId="263"/>
            <ac:spMk id="3" creationId="{47DA51E0-2E6F-A7AB-DCA8-9B3D93D404FB}"/>
          </ac:spMkLst>
        </pc:spChg>
      </pc:sldChg>
      <pc:sldChg chg="modSp new mod">
        <pc:chgData name="Ihonosetale Oseghale" userId="b1c3f33a-470a-45b8-9def-2cfcd8b1ae0a" providerId="ADAL" clId="{B0BAAFC9-0A00-41D8-8861-6E2A4290657B}" dt="2026-09-21T09:52:08.649" v="434" actId="207"/>
        <pc:sldMkLst>
          <pc:docMk/>
          <pc:sldMk cId="2164399378" sldId="264"/>
        </pc:sldMkLst>
        <pc:spChg chg="mod">
          <ac:chgData name="Ihonosetale Oseghale" userId="b1c3f33a-470a-45b8-9def-2cfcd8b1ae0a" providerId="ADAL" clId="{B0BAAFC9-0A00-41D8-8861-6E2A4290657B}" dt="2026-09-21T09:51:23.949" v="433" actId="20577"/>
          <ac:spMkLst>
            <pc:docMk/>
            <pc:sldMk cId="2164399378" sldId="264"/>
            <ac:spMk id="2" creationId="{C51E57B3-540C-45DA-FD31-1CCCF512B85C}"/>
          </ac:spMkLst>
        </pc:spChg>
        <pc:spChg chg="mod">
          <ac:chgData name="Ihonosetale Oseghale" userId="b1c3f33a-470a-45b8-9def-2cfcd8b1ae0a" providerId="ADAL" clId="{B0BAAFC9-0A00-41D8-8861-6E2A4290657B}" dt="2026-09-21T09:52:08.649" v="434" actId="207"/>
          <ac:spMkLst>
            <pc:docMk/>
            <pc:sldMk cId="2164399378" sldId="264"/>
            <ac:spMk id="3" creationId="{3E997A5C-7C90-CB96-02D9-026AB6A12FB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E27C0-E562-466E-8F7D-62B732E8995B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26CCC-514A-47BD-BDAE-C7285EF837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76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690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00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382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468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7330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075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8430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65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Ihonosetale Oseghale – Alps. Alpine Europe </a:t>
            </a:r>
            <a:r>
              <a:rPr lang="de-DE" dirty="0" err="1"/>
              <a:t>GmBH</a:t>
            </a:r>
            <a:r>
              <a:rPr lang="de-DE" dirty="0"/>
              <a:t> – Technische Hochschule Rosenheim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926CCC-514A-47BD-BDAE-C7285EF8376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785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064D-E6F3-D030-815A-53A980B0C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491F4-E4E0-3223-44E8-4E477D15A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F0AE4-C14C-049B-2778-4A2966BA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76805-B06F-B3A6-1B19-C8C6B6974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E310D-4877-E850-9F49-AA94EC99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83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47F7-AA66-04BE-1B82-905785620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BB37-4917-6B53-3DE8-E03DCC9E7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8DE05-49AD-97EE-167B-E911BC629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F7B5A-70C5-01E8-7ABC-B94C40A2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E172B-4F77-6A04-7E44-56B6F6BE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15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0123-7AA0-10F0-E22B-CB481108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87248-16EA-C0FE-1F4A-8F34C2D94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CB636-2715-0CD6-2044-DBF816CD4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74002-C319-3BB7-686C-21BEC22D9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1C107-6ABD-E485-1E36-F2BCFDBE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6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B640-28FD-B05C-D2B4-482B82C90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9D94-900F-0254-3D91-1916B56CD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F6260-5008-BDA2-A49A-72E975160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23643-B036-8683-1416-AF7E0B681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0344B-30D4-A37D-598E-4C7605FB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4B844-683C-ADD4-7697-6B894D2C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55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90E4-A26A-E13C-6409-4BF14AFC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0F54E-A82B-E76F-20E6-487F9C276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36EF7-E322-F981-D69F-45281E32B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F8A16-B51B-69B8-6F28-89898578A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E1F7A-777F-DEB2-70BA-EF2A4448C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0F665-BC08-C475-4E4E-6AEB224D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D0C502-C29E-B6F1-9A4E-76375CEB0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95E4E-6AB2-DEFC-177C-DF856D65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749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E42C-8B8B-D668-08DA-920EEA39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990ACE-3836-FA74-F35B-B3F027C7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7295E-8676-887E-FBE5-1CE5B3BE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4A34E-184E-B30F-F737-E0806816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63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CB380F-62C6-534E-483D-9EF4BA2BC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887F0-86E9-C926-D325-96A14385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485A7-F1A4-1B8D-A1DD-AA455C1D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17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2F24-5A3B-C827-8EE6-095CFAF62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B744E-67B4-1DFC-EFFB-A98B8D168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38B62-7E92-5464-E36D-A2C6F3E28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BD87C-2D94-4564-0865-C5F266CF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4167E-CA09-D8BF-6ABC-FCDA3730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B6DB9-63D3-33F3-8952-BEB07CF2F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48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2BBF-6E41-F32B-B0F5-5BED92CE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45832B-818E-2766-C89E-526BFB2EF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1248-0E93-9A35-62EA-E1A115839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09E0F-F559-63E6-D1A5-29E67F67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E1030-4876-39A0-AFDC-F8841A74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3ED75-37B9-487D-B97D-346A443E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19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3EC1-5A64-7A65-9A52-3D1690CD3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BF861-B514-4F72-CDC8-50D525968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F888A-A9FC-8C4C-881C-86A23186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90494-5CB4-FE5C-788D-AF0A35F0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C9B21-E5F1-C994-F791-B9937578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48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E82AB1-B9A7-EC29-C54B-3F87CEBA3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958F18-C639-AF8F-4D3A-FCB49CB92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5119F-627E-41F4-0F74-9CB81580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28446-54BE-E995-3034-47016154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45391-2016-E0A1-A2BF-67178E7C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94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BEEB9-B0D0-F8B7-60FB-B4694357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CDA78-31B8-8A07-6FD4-33BAD8BC1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7916-606A-75A2-4711-6887126B1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D7BF8D-FE33-4860-B879-5356A7D91395}" type="datetimeFigureOut">
              <a:rPr lang="en-GB" smtClean="0"/>
              <a:t>21/09/2026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9561E-C46A-A8F0-A6EE-3BCFE193F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18215-58EB-12B9-A11B-06D5CE76D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823711-02D9-471B-B018-D2E9004434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61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lps-europe-sbd.atlassian.net/wiki/spaces/ESTE/pages/5583536161/Master+Thesis+best+practic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8CAF-4EFF-8A16-5A7E-BAA680E4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Achieving</a:t>
            </a:r>
            <a:r>
              <a:rPr lang="de-DE" dirty="0"/>
              <a:t> Data </a:t>
            </a:r>
            <a:r>
              <a:rPr lang="de-DE" dirty="0" err="1"/>
              <a:t>Sovereignty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EU-Enterprises </a:t>
            </a:r>
            <a:r>
              <a:rPr lang="de-DE" dirty="0" err="1"/>
              <a:t>through</a:t>
            </a:r>
            <a:r>
              <a:rPr lang="de-DE" dirty="0"/>
              <a:t> European Cloud </a:t>
            </a:r>
            <a:r>
              <a:rPr lang="de-DE" dirty="0" err="1"/>
              <a:t>Infrastruture</a:t>
            </a:r>
            <a:r>
              <a:rPr lang="de-DE" dirty="0"/>
              <a:t>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8058E-6E02-1EF3-2D2A-9B3204E7ED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Master‘s</a:t>
            </a:r>
            <a:r>
              <a:rPr lang="de-DE" dirty="0"/>
              <a:t> Thesis </a:t>
            </a:r>
          </a:p>
          <a:p>
            <a:r>
              <a:rPr lang="de-DE" dirty="0"/>
              <a:t>Ihonosetale Oseghale </a:t>
            </a:r>
          </a:p>
          <a:p>
            <a:r>
              <a:rPr lang="de-DE" dirty="0"/>
              <a:t>Master </a:t>
            </a:r>
            <a:r>
              <a:rPr lang="de-DE" dirty="0" err="1"/>
              <a:t>of</a:t>
            </a:r>
            <a:r>
              <a:rPr lang="de-DE" dirty="0"/>
              <a:t> Engineering (</a:t>
            </a:r>
            <a:r>
              <a:rPr lang="de-DE" dirty="0" err="1"/>
              <a:t>M.Eng</a:t>
            </a:r>
            <a:r>
              <a:rPr lang="de-DE" dirty="0"/>
              <a:t>.)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390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C5C2-E5F3-96F2-8455-9F17A72A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Research Design: Five Studies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3B22E-4F5F-A362-9759-FA2DFCEF0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Sovereignty Scoring</a:t>
            </a:r>
            <a:br>
              <a:rPr lang="en-GB" dirty="0"/>
            </a:br>
            <a:r>
              <a:rPr lang="en-GB" sz="2600" i="1" dirty="0">
                <a:solidFill>
                  <a:schemeClr val="accent1"/>
                </a:solidFill>
              </a:rPr>
              <a:t>Can they legally protect our data ? </a:t>
            </a:r>
            <a:br>
              <a:rPr lang="en-GB" i="1" dirty="0"/>
            </a:br>
            <a:endParaRPr lang="en-GB" i="1" dirty="0"/>
          </a:p>
          <a:p>
            <a:r>
              <a:rPr lang="de-DE" dirty="0"/>
              <a:t>Providers </a:t>
            </a:r>
            <a:r>
              <a:rPr lang="de-DE" dirty="0" err="1"/>
              <a:t>Capability</a:t>
            </a:r>
            <a:r>
              <a:rPr lang="de-DE" dirty="0"/>
              <a:t> Gap Analysis </a:t>
            </a:r>
            <a:r>
              <a:rPr lang="de-DE" dirty="0" err="1"/>
              <a:t>wrt</a:t>
            </a:r>
            <a:r>
              <a:rPr lang="de-DE" dirty="0"/>
              <a:t> AWS </a:t>
            </a:r>
            <a:br>
              <a:rPr lang="de-DE" dirty="0"/>
            </a:br>
            <a:r>
              <a:rPr lang="de-DE" sz="2600" i="1" dirty="0">
                <a:solidFill>
                  <a:schemeClr val="accent1"/>
                </a:solidFill>
              </a:rPr>
              <a:t>Can </a:t>
            </a:r>
            <a:r>
              <a:rPr lang="de-DE" sz="2600" i="1" dirty="0" err="1">
                <a:solidFill>
                  <a:schemeClr val="accent1"/>
                </a:solidFill>
              </a:rPr>
              <a:t>they</a:t>
            </a:r>
            <a:r>
              <a:rPr lang="de-DE" sz="2600" i="1" dirty="0">
                <a:solidFill>
                  <a:schemeClr val="accent1"/>
                </a:solidFill>
              </a:rPr>
              <a:t> do </a:t>
            </a:r>
            <a:r>
              <a:rPr lang="de-DE" sz="2600" i="1" dirty="0" err="1">
                <a:solidFill>
                  <a:schemeClr val="accent1"/>
                </a:solidFill>
              </a:rPr>
              <a:t>what</a:t>
            </a:r>
            <a:r>
              <a:rPr lang="de-DE" sz="2600" i="1" dirty="0">
                <a:solidFill>
                  <a:schemeClr val="accent1"/>
                </a:solidFill>
              </a:rPr>
              <a:t> AWS </a:t>
            </a:r>
            <a:r>
              <a:rPr lang="de-DE" sz="2600" i="1" dirty="0" err="1">
                <a:solidFill>
                  <a:schemeClr val="accent1"/>
                </a:solidFill>
              </a:rPr>
              <a:t>does</a:t>
            </a:r>
            <a:r>
              <a:rPr lang="de-DE" sz="2600" i="1" dirty="0">
                <a:solidFill>
                  <a:schemeClr val="accent1"/>
                </a:solidFill>
              </a:rPr>
              <a:t> ? 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Financial </a:t>
            </a:r>
            <a:r>
              <a:rPr lang="en-GB" dirty="0"/>
              <a:t>Viability </a:t>
            </a:r>
            <a:r>
              <a:rPr lang="de-DE" dirty="0"/>
              <a:t>&amp; Investments</a:t>
            </a:r>
            <a:br>
              <a:rPr lang="de-DE" dirty="0"/>
            </a:br>
            <a:r>
              <a:rPr lang="de-DE" sz="2600" i="1" dirty="0">
                <a:solidFill>
                  <a:schemeClr val="accent1"/>
                </a:solidFill>
              </a:rPr>
              <a:t>Will </a:t>
            </a:r>
            <a:r>
              <a:rPr lang="de-DE" sz="2600" i="1" dirty="0" err="1">
                <a:solidFill>
                  <a:schemeClr val="accent1"/>
                </a:solidFill>
              </a:rPr>
              <a:t>they</a:t>
            </a:r>
            <a:r>
              <a:rPr lang="de-DE" sz="2600" i="1" dirty="0">
                <a:solidFill>
                  <a:schemeClr val="accent1"/>
                </a:solidFill>
              </a:rPr>
              <a:t> still </a:t>
            </a:r>
            <a:r>
              <a:rPr lang="de-DE" sz="2600" i="1" dirty="0" err="1">
                <a:solidFill>
                  <a:schemeClr val="accent1"/>
                </a:solidFill>
              </a:rPr>
              <a:t>exist</a:t>
            </a:r>
            <a:r>
              <a:rPr lang="de-DE" sz="2600" i="1" dirty="0">
                <a:solidFill>
                  <a:schemeClr val="accent1"/>
                </a:solidFill>
              </a:rPr>
              <a:t> in 5years ? </a:t>
            </a:r>
            <a:br>
              <a:rPr lang="de-DE" dirty="0"/>
            </a:br>
            <a:endParaRPr lang="de-DE" dirty="0"/>
          </a:p>
          <a:p>
            <a:r>
              <a:rPr lang="de-DE" dirty="0"/>
              <a:t>Technical Benchmarking and pricing  </a:t>
            </a:r>
            <a:br>
              <a:rPr lang="de-DE" dirty="0"/>
            </a:br>
            <a:r>
              <a:rPr lang="de-DE" sz="2600" i="1" dirty="0">
                <a:solidFill>
                  <a:schemeClr val="accent1"/>
                </a:solidFill>
              </a:rPr>
              <a:t>Are </a:t>
            </a:r>
            <a:r>
              <a:rPr lang="de-DE" sz="2600" i="1" dirty="0" err="1">
                <a:solidFill>
                  <a:schemeClr val="accent1"/>
                </a:solidFill>
              </a:rPr>
              <a:t>they</a:t>
            </a:r>
            <a:r>
              <a:rPr lang="de-DE" sz="2600" i="1" dirty="0">
                <a:solidFill>
                  <a:schemeClr val="accent1"/>
                </a:solidFill>
              </a:rPr>
              <a:t> fast </a:t>
            </a:r>
            <a:r>
              <a:rPr lang="de-DE" sz="2600" i="1" dirty="0" err="1">
                <a:solidFill>
                  <a:schemeClr val="accent1"/>
                </a:solidFill>
              </a:rPr>
              <a:t>enough</a:t>
            </a:r>
            <a:r>
              <a:rPr lang="de-DE" sz="2600" i="1" dirty="0">
                <a:solidFill>
                  <a:schemeClr val="accent1"/>
                </a:solidFill>
              </a:rPr>
              <a:t>, at </a:t>
            </a:r>
            <a:r>
              <a:rPr lang="de-DE" sz="2600" i="1" dirty="0" err="1">
                <a:solidFill>
                  <a:schemeClr val="accent1"/>
                </a:solidFill>
              </a:rPr>
              <a:t>what</a:t>
            </a:r>
            <a:r>
              <a:rPr lang="de-DE" sz="2600" i="1" dirty="0">
                <a:solidFill>
                  <a:schemeClr val="accent1"/>
                </a:solidFill>
              </a:rPr>
              <a:t> </a:t>
            </a:r>
            <a:r>
              <a:rPr lang="de-DE" sz="2600" i="1" dirty="0" err="1">
                <a:solidFill>
                  <a:schemeClr val="accent1"/>
                </a:solidFill>
              </a:rPr>
              <a:t>cost</a:t>
            </a:r>
            <a:r>
              <a:rPr lang="de-DE" sz="2600" i="1" dirty="0">
                <a:solidFill>
                  <a:schemeClr val="accent1"/>
                </a:solidFill>
              </a:rPr>
              <a:t> ?</a:t>
            </a:r>
            <a:br>
              <a:rPr lang="de-DE" sz="2600" i="1" dirty="0">
                <a:solidFill>
                  <a:schemeClr val="accent1"/>
                </a:solidFill>
              </a:rPr>
            </a:br>
            <a:endParaRPr lang="de-DE" sz="2600" i="1" dirty="0">
              <a:solidFill>
                <a:schemeClr val="accent1"/>
              </a:solidFill>
            </a:endParaRPr>
          </a:p>
          <a:p>
            <a:r>
              <a:rPr lang="en-GB" dirty="0"/>
              <a:t>Build Feasibility</a:t>
            </a:r>
            <a:br>
              <a:rPr lang="de-DE" sz="3000" i="1" dirty="0">
                <a:solidFill>
                  <a:schemeClr val="accent1"/>
                </a:solidFill>
              </a:rPr>
            </a:br>
            <a:r>
              <a:rPr lang="en-GB" sz="2400" i="1" dirty="0">
                <a:solidFill>
                  <a:schemeClr val="accent1"/>
                </a:solidFill>
              </a:rPr>
              <a:t>What would it take to build it ourselves ?  </a:t>
            </a:r>
          </a:p>
        </p:txBody>
      </p:sp>
    </p:spTree>
    <p:extLst>
      <p:ext uri="{BB962C8B-B14F-4D97-AF65-F5344CB8AC3E}">
        <p14:creationId xmlns:p14="http://schemas.microsoft.com/office/powerpoint/2010/main" val="365390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732BF-0B47-DDCD-CAA8-05CD34FE4E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39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361C0-BCB9-3D29-A19A-8DDF64AA4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Sovereignty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5E62C-CF48-799A-1F25-4BA2F8ED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de-DE" sz="2000" dirty="0"/>
              <a:t>EU DG DIGIT SOV - </a:t>
            </a:r>
            <a:r>
              <a:rPr lang="en-GB" sz="2000" dirty="0"/>
              <a:t>Cloud Sovereignty Framework 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25044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E8AEE-8A7B-4EB1-C940-85642B591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e-DE" sz="4200"/>
              <a:t>Capability Evaluation &amp; Gap from AWS </a:t>
            </a:r>
            <a:endParaRPr lang="en-GB" sz="420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1ECFC-36B7-C2C8-334A-E1024EAA2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/>
              <a:t>Cloud Readiness Assessment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109C0-45B9-49F1-41D2-830D0B489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78" y="134241"/>
            <a:ext cx="5568044" cy="610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7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BED40-6110-EB9F-9D25-216CDF93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e-DE" sz="5000"/>
              <a:t>Financial Viability &amp; Investments  </a:t>
            </a:r>
            <a:endParaRPr lang="en-GB" sz="5000"/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3843-8858-7547-AA25-D8AC3EFE3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GB" sz="2200"/>
              <a:t>Historical Growth &amp; Projected Parity with AWS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1D917-93CC-DE5E-AE5E-4F2A7031E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156" y="383099"/>
            <a:ext cx="5771982" cy="609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AAD6B-3133-B440-C33F-3051156B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e-DE" sz="2600"/>
              <a:t>Technical benchmarking, Performance &amp; pricing  </a:t>
            </a:r>
            <a:endParaRPr lang="en-GB" sz="26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DE4F8-6F6C-B4A2-BE80-CF773FB7C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200" cap="all"/>
              <a:t>2 vCPU / 8 GB tier instances </a:t>
            </a:r>
            <a:endParaRPr lang="en-GB" sz="22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64883-8933-ACC8-8AD8-B244D4306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848734"/>
            <a:ext cx="6903720" cy="516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41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uftaufnahme des Kaufland Logistikzentrums mit großflächiger Solaranlage auf den Dächern und mehreren Laderampen.">
            <a:extLst>
              <a:ext uri="{FF2B5EF4-FFF2-40B4-BE49-F238E27FC236}">
                <a16:creationId xmlns:a16="http://schemas.microsoft.com/office/drawing/2014/main" id="{BAD89956-AEE9-69D0-73D5-8123455611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15" b="102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539CD-E15A-124F-F3C1-7AC56DF4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de-DE" sz="4000" dirty="0"/>
              <a:t>Building a Sovereign Cloud </a:t>
            </a:r>
            <a:r>
              <a:rPr lang="de-DE" sz="4000" dirty="0" err="1"/>
              <a:t>Infrastruture</a:t>
            </a:r>
            <a:r>
              <a:rPr lang="de-DE" sz="4000" dirty="0"/>
              <a:t> 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41C31-5972-855B-E933-15C15F0E4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de-DE" sz="2000" dirty="0"/>
              <a:t>Expanding „</a:t>
            </a:r>
            <a:r>
              <a:rPr lang="de-DE" sz="2000" dirty="0" err="1"/>
              <a:t>Locally</a:t>
            </a:r>
            <a:r>
              <a:rPr lang="de-DE" sz="2000" dirty="0"/>
              <a:t> </a:t>
            </a:r>
            <a:r>
              <a:rPr lang="de-DE" sz="2000" dirty="0" err="1"/>
              <a:t>hosted</a:t>
            </a:r>
            <a:r>
              <a:rPr lang="de-DE" sz="2000" dirty="0"/>
              <a:t>“ From a Business Perspektive </a:t>
            </a:r>
          </a:p>
          <a:p>
            <a:r>
              <a:rPr lang="de-DE" sz="2000" dirty="0"/>
              <a:t>Technical </a:t>
            </a:r>
            <a:r>
              <a:rPr lang="de-DE" sz="2000" dirty="0" err="1"/>
              <a:t>know-how</a:t>
            </a:r>
            <a:endParaRPr lang="de-DE" sz="2000" dirty="0"/>
          </a:p>
          <a:p>
            <a:r>
              <a:rPr lang="de-DE" sz="2000" dirty="0" err="1"/>
              <a:t>Skill</a:t>
            </a:r>
            <a:r>
              <a:rPr lang="de-DE" sz="2000" dirty="0"/>
              <a:t> </a:t>
            </a:r>
            <a:r>
              <a:rPr lang="de-DE" sz="2000" dirty="0" err="1"/>
              <a:t>set</a:t>
            </a:r>
            <a:r>
              <a:rPr lang="de-DE" sz="2000" dirty="0"/>
              <a:t> &amp; Trainings </a:t>
            </a:r>
          </a:p>
          <a:p>
            <a:r>
              <a:rPr lang="de-DE" sz="2000" dirty="0"/>
              <a:t> Open source </a:t>
            </a:r>
          </a:p>
          <a:p>
            <a:r>
              <a:rPr lang="de-DE" sz="2000" dirty="0"/>
              <a:t>Cloud Architecture </a:t>
            </a:r>
            <a:r>
              <a:rPr lang="de-DE" sz="2000" dirty="0" err="1"/>
              <a:t>layer</a:t>
            </a:r>
            <a:r>
              <a:rPr lang="de-DE" sz="2000" dirty="0"/>
              <a:t> 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D2592-9F90-8D8F-1281-86920F87D4DC}"/>
              </a:ext>
            </a:extLst>
          </p:cNvPr>
          <p:cNvSpPr txBox="1"/>
          <p:nvPr/>
        </p:nvSpPr>
        <p:spPr>
          <a:xfrm>
            <a:off x="1147191" y="6492875"/>
            <a:ext cx="3935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schwarz-digits-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datacenter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en-GB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luebbenau</a:t>
            </a: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25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F10D-39C1-EF29-E2D4-58F5EF93E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Thesis </a:t>
            </a:r>
            <a:r>
              <a:rPr lang="de-DE" dirty="0" err="1"/>
              <a:t>Draft</a:t>
            </a:r>
            <a:r>
              <a:rPr lang="de-DE" dirty="0"/>
              <a:t>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A51E0-2E6F-A7AB-DCA8-9B3D93D40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>
                <a:hlinkClick r:id="rId3"/>
              </a:rPr>
              <a:t>Master Thesis best practices - LPD System Validation – Confluence</a:t>
            </a:r>
            <a:endParaRPr lang="en-GB" dirty="0"/>
          </a:p>
          <a:p>
            <a:r>
              <a:rPr lang="en-GB" b="1" dirty="0"/>
              <a:t>Ch. 4 (Provider Evaluation -- Exp 1–4)</a:t>
            </a:r>
            <a:r>
              <a:rPr lang="en-GB" dirty="0"/>
              <a:t> — discussing the data from the experiments </a:t>
            </a:r>
          </a:p>
          <a:p>
            <a:r>
              <a:rPr lang="en-GB" b="1" dirty="0"/>
              <a:t>Ch. 3 (Methodology)</a:t>
            </a:r>
            <a:r>
              <a:rPr lang="en-GB" dirty="0"/>
              <a:t> </a:t>
            </a:r>
          </a:p>
          <a:p>
            <a:r>
              <a:rPr lang="en-GB" b="1" dirty="0"/>
              <a:t>Ch. 5 (Build: Feasibility of Own Infrastructure)</a:t>
            </a:r>
            <a:r>
              <a:rPr lang="en-GB" dirty="0"/>
              <a:t> — the Canonical notes are effectively a first draft already</a:t>
            </a:r>
          </a:p>
          <a:p>
            <a:r>
              <a:rPr lang="en-GB" b="1" dirty="0"/>
              <a:t>Ch. 2 (Foundations)</a:t>
            </a:r>
            <a:r>
              <a:rPr lang="en-GB" dirty="0"/>
              <a:t> — most citation-heavy chapter, the bigger workload on the legal section</a:t>
            </a:r>
          </a:p>
          <a:p>
            <a:r>
              <a:rPr lang="en-GB" b="1" dirty="0"/>
              <a:t>Ch. 6, 7, 8 (Synthesis, Discussion, Conclusion)</a:t>
            </a:r>
            <a:endParaRPr lang="en-GB" dirty="0"/>
          </a:p>
          <a:p>
            <a:r>
              <a:rPr lang="en-GB" b="1" dirty="0"/>
              <a:t>Ch. 1 (Introduction)</a:t>
            </a:r>
            <a:r>
              <a:rPr lang="en-GB" dirty="0"/>
              <a:t> — last. Because I can only introduce a thesis that I have finished. </a:t>
            </a:r>
          </a:p>
        </p:txBody>
      </p:sp>
    </p:spTree>
    <p:extLst>
      <p:ext uri="{BB962C8B-B14F-4D97-AF65-F5344CB8AC3E}">
        <p14:creationId xmlns:p14="http://schemas.microsoft.com/office/powerpoint/2010/main" val="106765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57B3-540C-45DA-FD31-1CCCF512B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Deployment</a:t>
            </a:r>
            <a:r>
              <a:rPr lang="de-DE" dirty="0"/>
              <a:t> ????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97A5C-7C90-CB96-02D9-026AB6A12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Gillam et. al </a:t>
            </a:r>
            <a:br>
              <a:rPr lang="de-DE" dirty="0"/>
            </a:br>
            <a:r>
              <a:rPr lang="de-DE" i="1" dirty="0" err="1">
                <a:solidFill>
                  <a:schemeClr val="accent1"/>
                </a:solidFill>
              </a:rPr>
              <a:t>pts</a:t>
            </a:r>
            <a:r>
              <a:rPr lang="de-DE" i="1" dirty="0">
                <a:solidFill>
                  <a:schemeClr val="accent1"/>
                </a:solidFill>
              </a:rPr>
              <a:t>/stream </a:t>
            </a:r>
            <a:br>
              <a:rPr lang="en-GB" i="1" dirty="0">
                <a:solidFill>
                  <a:schemeClr val="accent1"/>
                </a:solidFill>
              </a:rPr>
            </a:br>
            <a:r>
              <a:rPr lang="en-GB" i="1" dirty="0">
                <a:solidFill>
                  <a:schemeClr val="accent1"/>
                </a:solidFill>
              </a:rPr>
              <a:t>pts/hint</a:t>
            </a:r>
            <a:br>
              <a:rPr lang="en-GB" i="1" dirty="0">
                <a:solidFill>
                  <a:schemeClr val="accent1"/>
                </a:solidFill>
              </a:rPr>
            </a:br>
            <a:r>
              <a:rPr lang="en-GB" i="1" dirty="0">
                <a:solidFill>
                  <a:schemeClr val="accent1"/>
                </a:solidFill>
              </a:rPr>
              <a:t>pts/compress-7zip</a:t>
            </a:r>
            <a:br>
              <a:rPr lang="en-GB" i="1" dirty="0">
                <a:solidFill>
                  <a:schemeClr val="accent1"/>
                </a:solidFill>
              </a:rPr>
            </a:br>
            <a:r>
              <a:rPr lang="en-GB" i="1" dirty="0">
                <a:solidFill>
                  <a:schemeClr val="accent1"/>
                </a:solidFill>
              </a:rPr>
              <a:t>pts/postmark</a:t>
            </a:r>
            <a:br>
              <a:rPr lang="en-GB" i="1" dirty="0">
                <a:solidFill>
                  <a:schemeClr val="accent1"/>
                </a:solidFill>
              </a:rPr>
            </a:br>
            <a:r>
              <a:rPr lang="en-GB" i="1" dirty="0">
                <a:solidFill>
                  <a:schemeClr val="accent1"/>
                </a:solidFill>
              </a:rPr>
              <a:t>pts/</a:t>
            </a:r>
            <a:r>
              <a:rPr lang="en-GB" i="1" dirty="0" err="1">
                <a:solidFill>
                  <a:schemeClr val="accent1"/>
                </a:solidFill>
              </a:rPr>
              <a:t>apache</a:t>
            </a:r>
            <a:br>
              <a:rPr lang="en-GB" i="1" dirty="0">
                <a:solidFill>
                  <a:schemeClr val="accent1"/>
                </a:solidFill>
              </a:rPr>
            </a:br>
            <a:r>
              <a:rPr lang="en-GB" i="1" dirty="0">
                <a:solidFill>
                  <a:schemeClr val="accent1"/>
                </a:solidFill>
              </a:rPr>
              <a:t>iperf3</a:t>
            </a:r>
            <a:endParaRPr lang="de-DE" i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399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Widescreen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Achieving Data Sovereignty for EU-Enterprises through European Cloud Infrastruture </vt:lpstr>
      <vt:lpstr>Research Design: Five Studies </vt:lpstr>
      <vt:lpstr>Sovereignty Scoring</vt:lpstr>
      <vt:lpstr>Capability Evaluation &amp; Gap from AWS </vt:lpstr>
      <vt:lpstr>Financial Viability &amp; Investments  </vt:lpstr>
      <vt:lpstr>Technical benchmarking, Performance &amp; pricing  </vt:lpstr>
      <vt:lpstr>Building a Sovereign Cloud Infrastruture </vt:lpstr>
      <vt:lpstr>Thesis Draft </vt:lpstr>
      <vt:lpstr>Deployment ????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Ihonosetale Oseghale</dc:creator>
  <cp:lastModifiedBy>Ihonosetale Oseghale</cp:lastModifiedBy>
  <cp:revision>1</cp:revision>
  <dcterms:created xsi:type="dcterms:W3CDTF">2026-09-21T08:45:22Z</dcterms:created>
  <dcterms:modified xsi:type="dcterms:W3CDTF">2026-09-21T12:05:13Z</dcterms:modified>
</cp:coreProperties>
</file>
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71" r:id="rId12"/>
    <p:sldId id="272" r:id="rId13"/>
    <p:sldId id="273" r:id="rId14"/>
    <p:sldId id="266" r:id="rId15"/>
    <p:sldId id="267" r:id="rId16"/>
    <p:sldId id="268" r:id="rId17"/>
    <p:sldId id="269" r:id="rId18"/>
    <p:sldId id="270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0B3D82-F81A-4556-B614-3222C35ACB4E}" v="2" dt="2026-09-21T09:13:53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2" autoAdjust="0"/>
  </p:normalViewPr>
  <p:slideViewPr>
    <p:cSldViewPr snapToGrid="0" snapToObjects="1">
      <p:cViewPr varScale="1">
        <p:scale>
          <a:sx n="99" d="100"/>
          <a:sy n="99" d="100"/>
        </p:scale>
        <p:origin x="114" y="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honosetale Oseghale" userId="b1c3f33a-470a-45b8-9def-2cfcd8b1ae0a" providerId="ADAL" clId="{B0BAAFC9-0A00-41D8-8861-6E2A4290657B}"/>
    <pc:docChg chg="modSld">
      <pc:chgData name="Ihonosetale Oseghale" userId="b1c3f33a-470a-45b8-9def-2cfcd8b1ae0a" providerId="ADAL" clId="{B0BAAFC9-0A00-41D8-8861-6E2A4290657B}" dt="2026-09-21T09:13:53.662" v="5" actId="1076"/>
      <pc:docMkLst>
        <pc:docMk/>
      </pc:docMkLst>
      <pc:sldChg chg="modSp">
        <pc:chgData name="Ihonosetale Oseghale" userId="b1c3f33a-470a-45b8-9def-2cfcd8b1ae0a" providerId="ADAL" clId="{B0BAAFC9-0A00-41D8-8861-6E2A4290657B}" dt="2026-09-21T09:13:53.662" v="5" actId="1076"/>
        <pc:sldMkLst>
          <pc:docMk/>
          <pc:sldMk cId="3187420198" sldId="273"/>
        </pc:sldMkLst>
        <pc:picChg chg="mod">
          <ac:chgData name="Ihonosetale Oseghale" userId="b1c3f33a-470a-45b8-9def-2cfcd8b1ae0a" providerId="ADAL" clId="{B0BAAFC9-0A00-41D8-8861-6E2A4290657B}" dt="2026-09-21T09:13:53.662" v="5" actId="1076"/>
          <ac:picMkLst>
            <pc:docMk/>
            <pc:sldMk cId="3187420198" sldId="273"/>
            <ac:picMk id="6146" creationId="{F3E0B555-95B5-6897-1C3C-047CEA2B0B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254B8-78B8-46D1-9302-334A225C7F4A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672DF-11A1-4EBD-934B-12FD96B82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75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272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014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23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969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888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793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29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55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928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85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10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73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617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132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175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210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574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 Data Sovereignty for EU Enterprises Through European Cloud Infrastructure: A Comparative Analysis of Technical Capabilities and Regulatory Compliance</a:t>
            </a:r>
            <a:endParaRPr lang="en-GB" b="1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2DF-11A1-4EBD-934B-12FD96B8217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806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88952" cy="1828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Building a Sovereign Cloud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5A623"/>
                </a:solidFill>
              </a:rPr>
              <a:t>Technical Considerations · Canonical Event Notes</a:t>
            </a:r>
            <a:r>
              <a:rPr lang="de-DE" sz="1600" b="0" i="0" dirty="0">
                <a:solidFill>
                  <a:srgbClr val="F5A623"/>
                </a:solidFill>
              </a:rPr>
              <a:t> &amp; PERSONAL RESEARCH</a:t>
            </a:r>
            <a:r>
              <a:rPr sz="1600" b="0" i="0" dirty="0">
                <a:solidFill>
                  <a:srgbClr val="F5A623"/>
                </a:solidFill>
              </a:rPr>
              <a:t> · July 2026</a:t>
            </a:r>
            <a:r>
              <a:rPr lang="de-DE" sz="1600" b="0" i="0" dirty="0">
                <a:solidFill>
                  <a:srgbClr val="F5A623"/>
                </a:solidFill>
              </a:rPr>
              <a:t> </a:t>
            </a:r>
            <a:endParaRPr sz="1600" b="0" i="0" dirty="0">
              <a:solidFill>
                <a:srgbClr val="F5A62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BBBBBB"/>
                </a:solidFill>
              </a:rPr>
              <a:t>Topics: Kernel &amp; Virtualization · EU Regulations · Full-Stack Sovereignty
OpenStack · Ceph · KVM · MAAS · Network Design · Cluster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603504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800" b="1" i="0" dirty="0">
                <a:solidFill>
                  <a:srgbClr val="E95420"/>
                </a:solidFill>
              </a:rPr>
              <a:t>Ihonosetale Oseghale – Masters Research </a:t>
            </a:r>
            <a:endParaRPr sz="1800" b="1" i="0" dirty="0">
              <a:solidFill>
                <a:srgbClr val="E9542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Philip Williams · Tytus Kurek · David Beamonte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02920" cy="56692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1188720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Why Sovereignty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Geopolitics, regulation, economics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01368"/>
            <a:ext cx="502920" cy="56692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0136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1801368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84708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EU Regulatory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4708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GDPR, DORA, CRA, NIS2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14016"/>
            <a:ext cx="502920" cy="56692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41401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2414016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45973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Technical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5973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Kernel, virtualization, hypervisors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26664"/>
            <a:ext cx="502920" cy="56692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026664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" y="3026664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07238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Sovereignty Across the Full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7238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Hardware to application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39312"/>
            <a:ext cx="502920" cy="56692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63931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" y="3639312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68503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Open Source as Foundation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85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KVM, OpenStack, Ceph, Ubuntu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51960"/>
            <a:ext cx="502920" cy="56692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425196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4251960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2976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Building the Cloud — Step by 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29768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Physical design to Customer Zero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64608"/>
            <a:ext cx="502920" cy="56692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486460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" y="4864608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91032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Canonical Products &amp; Reference Adopters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9103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757"/>
                </a:solidFill>
              </a:rPr>
              <a:t>MicroCloud, MAAS, Ceph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77256"/>
            <a:ext cx="502920" cy="56692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547725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" y="5477256"/>
            <a:ext cx="1078992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52297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 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Sovereignty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D0B0"/>
                </a:solidFill>
              </a:rPr>
              <a:t>Three converging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566160" cy="47548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GEOPOLITICS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3566160" cy="4206240"/>
          </a:xfrm>
          <a:prstGeom prst="rect">
            <a:avLst/>
          </a:prstGeom>
          <a:solidFill>
            <a:srgbClr val="F2F2F2"/>
          </a:solidFill>
          <a:ln w="2540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</a:rPr>
              <a:t>Dependency on foreign (mostly US) hyperscalers is increasingly seen
as a strategic risk. Governments want control over critical digital
infrastructure, especially amid rising global tensions.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188720"/>
            <a:ext cx="3566160" cy="475488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2618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REGULATION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64208"/>
            <a:ext cx="3566160" cy="4206240"/>
          </a:xfrm>
          <a:prstGeom prst="rect">
            <a:avLst/>
          </a:prstGeom>
          <a:solidFill>
            <a:srgbClr val="F2F2F2"/>
          </a:solidFill>
          <a:ln w="254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82880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</a:rPr>
              <a:t>A wave of EU legislation directly affects cloud and digital infrastructure:
GDPR, DORA, NIS2, CRA, AI Act — all create compliance obligations
that are easier to meet with sovereign, EU-controlled infrastructure.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188720"/>
            <a:ext cx="3566160" cy="475488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12618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ECONOMICS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664208"/>
            <a:ext cx="3566160" cy="4206240"/>
          </a:xfrm>
          <a:prstGeom prst="rect">
            <a:avLst/>
          </a:prstGeom>
          <a:solidFill>
            <a:srgbClr val="F2F2F2"/>
          </a:solidFill>
          <a:ln w="2540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82880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</a:rPr>
              <a:t>Cost control and avoiding the lock-in pricing power of proprietary
vendors. Open-source stacks give you price transparency,
negotiating power, and exit options that </a:t>
            </a:r>
            <a:r>
              <a:rPr sz="1350" b="0" i="0" dirty="0" err="1">
                <a:solidFill>
                  <a:srgbClr val="1A1A1A"/>
                </a:solidFill>
              </a:rPr>
              <a:t>hyperscalers</a:t>
            </a:r>
            <a:r>
              <a:rPr sz="1350" b="0" i="0" dirty="0">
                <a:solidFill>
                  <a:srgbClr val="1A1A1A"/>
                </a:solidFill>
              </a:rPr>
              <a:t> don't.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998464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>
                <a:solidFill>
                  <a:srgbClr val="575757"/>
                </a:solidFill>
              </a:rPr>
              <a:t>" Necessary but not sufficient — open source alone doesn't make you sovereign;
   operations, data placement, and the full stack matter too. 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EU Regulatory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Regulations vs. Directives — know the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438912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EU REGULATIONS — directly applicable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GDPR — General Data Protection Regulation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57984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2311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DORA — Digital Operational Resilience 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CRA — Cyber Resilience 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82112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2552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AI Act — risk-based AI 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39896"/>
            <a:ext cx="5577840" cy="9601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3803904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75757"/>
                </a:solidFill>
              </a:rPr>
              <a:t>Apply as written, identically in ALL member states.
No national translation needed. Companies comply directly.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43000"/>
            <a:ext cx="5577840" cy="438912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EU DIRECTIVES — transposed nationally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719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NIS2 — Network &amp; Information Security Directive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57984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2311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Each member state writes its own national law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670048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27 different national implementations exist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182112"/>
            <a:ext cx="557784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32552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▸  Track the implementing law of each country you operate 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39896"/>
            <a:ext cx="5577840" cy="960120"/>
          </a:xfrm>
          <a:prstGeom prst="rect">
            <a:avLst/>
          </a:prstGeom>
          <a:solidFill>
            <a:srgbClr val="E0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3803904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75757"/>
                </a:solidFill>
              </a:rPr>
              <a:t>Sets the required outcome; member states choose how.
Compliance means tracking 27 national rulebooks.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76072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5420"/>
                </a:solidFill>
              </a:rPr>
              <a:t>Practical consequence: GDPR / DORA / CRA compliance is largely uniform across the EU.  NIS2 means tracking 27 national rulebooks.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Sovereignty Across All Layers of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A sovereign application on a non-sovereign layer below is NOT sovereign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943600" cy="512064"/>
          </a:xfrm>
          <a:prstGeom prst="rect">
            <a:avLst/>
          </a:prstGeom>
          <a:solidFill>
            <a:srgbClr val="6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289304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SOFTWARE /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8930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Your workloads, services,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" y="1700784"/>
            <a:ext cx="5806440" cy="512064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" y="1819656"/>
            <a:ext cx="5623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1965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Monitoring, logging, alerting — Prometheus, Grafana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31136"/>
            <a:ext cx="5669280" cy="512064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35000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VIRTUALIZATION / CLOUD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000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OpenStack · KVM · MicroCloud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" y="2761488"/>
            <a:ext cx="5532120" cy="5120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" y="288036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Neutron · OVN · Open vSwitch · BGP · DE-CIX peering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291840"/>
            <a:ext cx="5394960" cy="512064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41071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1071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Ceph — object, block, file under your own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" y="3822192"/>
            <a:ext cx="5257800" cy="5120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8" y="3941064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4106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Ubuntu — open-source base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52544"/>
            <a:ext cx="5120640" cy="5120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471416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SYSTEM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7141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MAAS — Metal as a Service — bare-metal provisioning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" y="4882896"/>
            <a:ext cx="4983480" cy="512064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8" y="5001768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HARDWARE / METAL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0176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 Your own servers in colocation · sovereignty starts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806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5420"/>
                </a:solidFill>
              </a:rPr>
              <a:t>↑  Sovereignty must be verified at EVERY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Open Source as the Natural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~70% of organizations already agree — but it's necessary, not sufficient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560320" cy="256032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517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of organisations agree
open source = no vendor lock-in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868680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5420"/>
                </a:solidFill>
              </a:rPr>
              <a:t>No vendor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2801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Avoid pricing power and unilateral changes from proprietary vendors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719072"/>
            <a:ext cx="868680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792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5420"/>
                </a:solidFill>
              </a:rPr>
              <a:t>Full auditability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8105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Source code can be inspected, modified, and independently verified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249424"/>
            <a:ext cx="868680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23225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5420"/>
                </a:solidFill>
              </a:rPr>
              <a:t>Community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4086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KVM is contributed to by many companies — no single point of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779776"/>
            <a:ext cx="868680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852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5420"/>
                </a:solidFill>
              </a:rPr>
              <a:t>Operational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871216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You deploy, patch, and operate on your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310128"/>
            <a:ext cx="868680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5420"/>
                </a:solidFill>
              </a:rPr>
              <a:t>Cost predictability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4015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 per-core licensing; cost scales with your usage, not vendor pricing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13632"/>
            <a:ext cx="11521440" cy="1234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9776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⚠   NECESSARY — BUT NOT SUFFICIENT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708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Open source alone doesn't make you sovereign. You also need: data placement in EU jurisdiction · EU-resident operations team · supply chain transparency · full-stack deployment from hardware to app.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73736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Ubuntu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95728" y="5349240"/>
            <a:ext cx="173736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95728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KVM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5349240"/>
            <a:ext cx="173736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34256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2784" y="5349240"/>
            <a:ext cx="173736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72784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Ceph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11312" y="5349240"/>
            <a:ext cx="173736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2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5349240"/>
            <a:ext cx="173736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49840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MicroCloud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Technical Foundation: Kernel &amp;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Understanding the base layer before building sovereign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5720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is the Kernel?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• The kernel is the core of an OS — it talks directly to hardware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• Handles: memory allocation, CPU scheduling, system calls, drivers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• Kernel modules (.ko files) extend functionality at runtime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• The kernel expects full, privileged access to real hardware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• Inside a VM, the hypervisor becomes the real boss — the kernel
  inside the VM must not touch real hardware directly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143000"/>
            <a:ext cx="6675120" cy="3657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17043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Virtualization Techniques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572768"/>
            <a:ext cx="6675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160934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VIRTUALIZATION (Early VMware, 1990s)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847088"/>
            <a:ext cx="6675120" cy="713232"/>
          </a:xfrm>
          <a:prstGeom prst="rect">
            <a:avLst/>
          </a:prstGeom>
          <a:solidFill>
            <a:srgbClr val="F2F2F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5232" y="1892808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Hypervisor intercepts all privileged instructions from the guest OS and fakes results.
Slow — constant interception overhead. No hardware support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2624328"/>
            <a:ext cx="667512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266090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PARAVIRTUALIZATION (Xen, 2003)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898648"/>
            <a:ext cx="6675120" cy="713232"/>
          </a:xfrm>
          <a:prstGeom prst="rect">
            <a:avLst/>
          </a:prstGeom>
          <a:solidFill>
            <a:srgbClr val="F2F2F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2" y="2944368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Guest OS source code is modified to 'know' it's in a VM and ask the hypervisor
for privilege access. Faster, but requires OS patching.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3675888"/>
            <a:ext cx="6675120" cy="274320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371246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HARDWARE-ASSISTED VIRTUALIZATION (Intel VT-x / AMD-V) ★ NOW STANDARD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3950208"/>
            <a:ext cx="6675120" cy="713232"/>
          </a:xfrm>
          <a:prstGeom prst="rect">
            <a:avLst/>
          </a:prstGeom>
          <a:solidFill>
            <a:srgbClr val="F2F2F2"/>
          </a:solidFill>
          <a:ln w="1905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85232" y="3995928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CPU manufacturers added 'Hypervisor mode' and 'Guest mode' in silicon.
No software tricks needed — hardware enforces isolation. Most efficient.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03320"/>
            <a:ext cx="1152144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7307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Hypervisor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41648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405993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TYPE 1 — Bare Metal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15968"/>
            <a:ext cx="3749039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370832"/>
            <a:ext cx="3566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Xen — used Dom0 for privilege mgmt; famous for paravirt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KVM (kvm.ko) — turns Linux into a hypervisor; most adopted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VMware ESXi, Hyper-V (Azure)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19" y="4041648"/>
            <a:ext cx="3749039" cy="27432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59" y="405993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TYPE 2 — Hosted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19" y="4315968"/>
            <a:ext cx="3749039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7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51959" y="4370832"/>
            <a:ext cx="3566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Runs as an app on top of an existing 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Examples: VirtualBox, VMware Workstation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Not used in production cloud infrastructure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0998" y="4041648"/>
            <a:ext cx="3749039" cy="274320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38" y="405993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Industry Migration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998" y="4315968"/>
            <a:ext cx="3749039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38" y="4370832"/>
            <a:ext cx="3566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AWS &amp; Alibaba: Xen → KVM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IBM Cloud, Oracle Cloud: KVM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Only Azure: customised Hyper-V (not KVM)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Building a Sovereign Cloud —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Three decisions before you rack a single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03320" cy="50292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0700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DETERMINE CUSTOMER ZERO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3703320" cy="4343400"/>
          </a:xfrm>
          <a:prstGeom prst="rect">
            <a:avLst/>
          </a:prstGeom>
          <a:solidFill>
            <a:srgbClr val="F2F2F2"/>
          </a:solidFill>
          <a:ln w="2540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3429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Decide whether you need a private cloud first, with the option to
expand to other customers (multi-tenant) in future.
Customer Zero = your first internal or anchor tenant — define their
exact compute, storage, and networking requirements upfront.
This becomes your minimum viable cluster size.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143000"/>
            <a:ext cx="3703320" cy="502920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20700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RENT CERTIFIED COLOCATION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645920"/>
            <a:ext cx="3703320" cy="4343400"/>
          </a:xfrm>
          <a:prstGeom prst="rect">
            <a:avLst/>
          </a:prstGeom>
          <a:solidFill>
            <a:srgbClr val="F2F2F2"/>
          </a:solidFill>
          <a:ln w="254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361688" y="1755648"/>
            <a:ext cx="3429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Start in a Tier III+ colocation facility — e.g. Frankfurt area (near DE-CIX)
to gain access to major internet exchange peering.
The facility provides: power, cooling, physical security, and connectivity.
Build your own facility only after you've scaled and validated demand.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143000"/>
            <a:ext cx="3703320" cy="502920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0456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120700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COMMIT TO THE OPEN-SOURCE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9016" y="1645920"/>
            <a:ext cx="3703320" cy="4343400"/>
          </a:xfrm>
          <a:prstGeom prst="rect">
            <a:avLst/>
          </a:prstGeom>
          <a:solidFill>
            <a:srgbClr val="F2F2F2"/>
          </a:solidFill>
          <a:ln w="2540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1755648"/>
            <a:ext cx="3429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Technology choice:  OpenStack + Ceph + KVM
Deployment tool:    Kolla-Ansible (or similar)
OpenStack = open-source cloud OS controlling compute, storage, and
networking across your data </a:t>
            </a:r>
            <a:r>
              <a:rPr sz="1200" b="0" i="0" dirty="0" err="1">
                <a:solidFill>
                  <a:srgbClr val="1A1A1A"/>
                </a:solidFill>
              </a:rPr>
              <a:t>centre</a:t>
            </a:r>
            <a:r>
              <a:rPr sz="1200" b="0" i="0" dirty="0">
                <a:solidFill>
                  <a:srgbClr val="1A1A1A"/>
                </a:solidFill>
              </a:rPr>
              <a:t>.
This decision locks in your hiring profile and your training budget.</a:t>
            </a:r>
          </a:p>
        </p:txBody>
      </p:sp>
      <p:pic>
        <p:nvPicPr>
          <p:cNvPr id="21" name="Picture 20" descr="Fördermitglied:Schwarz Gruppe - VSW Bundesverband">
            <a:extLst>
              <a:ext uri="{FF2B5EF4-FFF2-40B4-BE49-F238E27FC236}">
                <a16:creationId xmlns:a16="http://schemas.microsoft.com/office/drawing/2014/main" id="{03FBB05E-D273-FA74-77F1-3123ADF3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9702"/>
            <a:ext cx="2258692" cy="1272338"/>
          </a:xfrm>
          <a:prstGeom prst="rect">
            <a:avLst/>
          </a:prstGeom>
        </p:spPr>
      </p:pic>
      <p:pic>
        <p:nvPicPr>
          <p:cNvPr id="22" name="Picture 21" descr="Schwarz Gruppe | Karriere im Familienunternehmen">
            <a:extLst>
              <a:ext uri="{FF2B5EF4-FFF2-40B4-BE49-F238E27FC236}">
                <a16:creationId xmlns:a16="http://schemas.microsoft.com/office/drawing/2014/main" id="{A941812B-74B2-A852-3F90-7DF72963D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242" y="4198089"/>
            <a:ext cx="666850" cy="666850"/>
          </a:xfrm>
          <a:prstGeom prst="rect">
            <a:avLst/>
          </a:prstGeom>
        </p:spPr>
      </p:pic>
      <p:pic>
        <p:nvPicPr>
          <p:cNvPr id="23" name="Picture 22" descr="Telehouse Data Center in Frankfurt am Main Hessen">
            <a:extLst>
              <a:ext uri="{FF2B5EF4-FFF2-40B4-BE49-F238E27FC236}">
                <a16:creationId xmlns:a16="http://schemas.microsoft.com/office/drawing/2014/main" id="{6EB05983-138C-8F8D-41D3-9574E941A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288" y="3429000"/>
            <a:ext cx="3325800" cy="1857554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2C0C411F-33FE-08F9-15F9-3C61755C5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196" y="5023694"/>
            <a:ext cx="2706624" cy="921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0" rIns="91440" bIns="1904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</a:rPr>
            </a:b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</a:rPr>
              <a:t>Colocation-</a:t>
            </a:r>
            <a:r>
              <a:rPr kumimoji="0" lang="en-US" altLang="en-US" sz="1600" b="0" i="0" u="sng" strike="noStrike" cap="none" normalizeH="0" baseline="0" dirty="0" err="1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</a:rPr>
              <a:t>Anbieter</a:t>
            </a: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</a:rPr>
              <a:t> Frankfurt</a:t>
            </a:r>
            <a:r>
              <a:rPr lang="en-US" altLang="en-US" sz="700" dirty="0"/>
              <a:t>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  <a:cs typeface="Arial" panose="020B0604020202020204" pitchFamily="34" charset="0"/>
              </a:rPr>
              <a:t>ITENOS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B5B745-72DA-AB5F-5DA9-11C267BE9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808" y="548467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Decoding openstack">
            <a:extLst>
              <a:ext uri="{FF2B5EF4-FFF2-40B4-BE49-F238E27FC236}">
                <a16:creationId xmlns:a16="http://schemas.microsoft.com/office/drawing/2014/main" id="{6F7ECA97-3EE0-1FF4-53CD-091C74BBFC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6276" y="3588489"/>
            <a:ext cx="18288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Six Engineer Profiles You Must 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The scarcity of OpenStack and Ceph operators in Europe is itself a sovereignty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3703320" cy="38404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①  Platform Engineers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703320" cy="1947672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Python · distributed systems · COA certified
OpenStack is written in Python — these are
your cloud OS developers and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170432"/>
            <a:ext cx="3703320" cy="384048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225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②  Ceph Storage Engineers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554480"/>
            <a:ext cx="3703320" cy="1947672"/>
          </a:xfrm>
          <a:prstGeom prst="rect">
            <a:avLst/>
          </a:prstGeom>
          <a:solidFill>
            <a:srgbClr val="F2F2F2"/>
          </a:solidFill>
          <a:ln w="1905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164592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Ceph cluster design, OSD tuning, erasure coding
Critical scarcity role — very few certified
Ceph engineers exist in Europe.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170432"/>
            <a:ext cx="3703320" cy="384048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1225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③  SDN / Network Engineers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554480"/>
            <a:ext cx="3703320" cy="1947672"/>
          </a:xfrm>
          <a:prstGeom prst="rect">
            <a:avLst/>
          </a:prstGeom>
          <a:solidFill>
            <a:srgbClr val="F2F2F2"/>
          </a:solidFill>
          <a:ln w="1905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64592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Two layers:
Virtual: Neutron + OVN + Open vSwitch + VXLAN
Physical: BGP, EVPN, DE-CIX peering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39312"/>
            <a:ext cx="3703320" cy="384048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6941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④  Deployment &amp; Automation Engineers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3703320" cy="1947672"/>
          </a:xfrm>
          <a:prstGeom prst="rect">
            <a:avLst/>
          </a:prstGeom>
          <a:solidFill>
            <a:srgbClr val="F2F2F2"/>
          </a:solidFill>
          <a:ln w="1905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411480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Kolla-Ansible, Terraform, CI/CD pipelines
Responsible for repeatable, auditable
infrastructure-as-code deployments.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639312"/>
            <a:ext cx="3703320" cy="384048"/>
          </a:xfrm>
          <a:prstGeom prst="rect">
            <a:avLst/>
          </a:prstGeom>
          <a:solidFill>
            <a:srgbClr val="6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36941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⑤  Site Reliability Engineers (SREs)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4023360"/>
            <a:ext cx="3703320" cy="1947672"/>
          </a:xfrm>
          <a:prstGeom prst="rect">
            <a:avLst/>
          </a:prstGeom>
          <a:solidFill>
            <a:srgbClr val="F2F2F2"/>
          </a:solidFill>
          <a:ln w="19050">
            <a:solidFill>
              <a:srgbClr val="6C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34256" y="411480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On-call, incident response, capacity planning
Must maintain the 'illusion of infinite capacity'
and never say no to a customer machine request.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6" y="3639312"/>
            <a:ext cx="37033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6941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⑥  Security &amp; Compliance Engineers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9016" y="4023360"/>
            <a:ext cx="3703320" cy="1947672"/>
          </a:xfrm>
          <a:prstGeom prst="rect">
            <a:avLst/>
          </a:prstGeom>
          <a:solidFill>
            <a:srgbClr val="F2F2F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38744" y="411480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BSI C5, ISO 27001, GDPR Art.28 DPAs
Certification management, vulnerability
patching, audit trail, access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 — Physical Design: Node Roles &amp; Hardware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Design the cluster topology on paper before purchasing a single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0292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Node Roles in an OpenStack Cluster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1170432"/>
            <a:ext cx="6309360" cy="347472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3560" y="118872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Hardware Bill of Materials (BOM) — Example 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1572768"/>
            <a:ext cx="630936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23560" y="16642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Control-plane nodes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16642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16642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1U/2U servers, 2× 10GbE NICs, SSD for 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066544"/>
            <a:ext cx="6309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23560" y="215798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Ceph storage nodes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15798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15798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12–24× HDD/SSD per node, 2× 10GbE + 1× 25GbE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560320"/>
            <a:ext cx="630936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23560" y="26517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KVM compute nodes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6517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26517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High-core CPU, 256GB+ RAM, 2× 10GbE NICs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3054096"/>
            <a:ext cx="6309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23560" y="314553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Network/edge nodes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1455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31455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DPDK-capable NICs, 2× 25GbE uplinks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547872"/>
            <a:ext cx="630936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23560" y="36393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ToR switches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63931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36393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48-port 10GbE + 4× 100GbE uplinks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4041648"/>
            <a:ext cx="6309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23560" y="41330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OOB management switch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13308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1330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1GbE, connected to all BMC/IPMI ports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4535424"/>
            <a:ext cx="630936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23560" y="46268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Routers / firewalls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6268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×2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462686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75757"/>
                </a:solidFill>
              </a:rPr>
              <a:t>BGP-capable, DE-CIX-compatible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5029200"/>
            <a:ext cx="6309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23560" y="512064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Total (example)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512064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5420"/>
                </a:solidFill>
              </a:rPr>
              <a:t>~15 servers, 5 network devices, 2 racks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51206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974C35-1A4A-232B-16E0-BB6AA502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1835277"/>
            <a:ext cx="2105025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95FB388-79A1-3B6A-0FC3-5587E1097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418" y="2951988"/>
            <a:ext cx="249555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Rectangle 2047">
            <a:extLst>
              <a:ext uri="{FF2B5EF4-FFF2-40B4-BE49-F238E27FC236}">
                <a16:creationId xmlns:a16="http://schemas.microsoft.com/office/drawing/2014/main" id="{AA7E72EE-4B41-2DCE-67E5-0E92FD4C221E}"/>
              </a:ext>
            </a:extLst>
          </p:cNvPr>
          <p:cNvSpPr/>
          <p:nvPr/>
        </p:nvSpPr>
        <p:spPr>
          <a:xfrm>
            <a:off x="54864" y="5876925"/>
            <a:ext cx="630936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Purchasing the servers/nodes. </a:t>
            </a:r>
            <a:r>
              <a:rPr lang="en-GB" dirty="0" err="1">
                <a:solidFill>
                  <a:schemeClr val="tx1"/>
                </a:solidFill>
              </a:rPr>
              <a:t>e.g</a:t>
            </a:r>
            <a:r>
              <a:rPr lang="en-GB" dirty="0">
                <a:solidFill>
                  <a:schemeClr val="tx1"/>
                </a:solidFill>
              </a:rPr>
              <a:t> 1U/2U pizza-box.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86F4652F-6D60-47BB-BA2F-AA61234E5063}"/>
              </a:ext>
            </a:extLst>
          </p:cNvPr>
          <p:cNvSpPr txBox="1"/>
          <p:nvPr/>
        </p:nvSpPr>
        <p:spPr>
          <a:xfrm>
            <a:off x="6589776" y="5983415"/>
            <a:ext cx="42732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100" b="0" i="0" dirty="0" err="1">
                <a:solidFill>
                  <a:srgbClr val="1A1A1A"/>
                </a:solidFill>
              </a:rPr>
              <a:t>Each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of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these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pizza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boxes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can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be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used</a:t>
            </a:r>
            <a:r>
              <a:rPr lang="de-DE" sz="1100" b="0" i="0" dirty="0">
                <a:solidFill>
                  <a:srgbClr val="1A1A1A"/>
                </a:solidFill>
              </a:rPr>
              <a:t> </a:t>
            </a:r>
            <a:r>
              <a:rPr lang="de-DE" sz="1100" b="0" i="0" dirty="0" err="1">
                <a:solidFill>
                  <a:srgbClr val="1A1A1A"/>
                </a:solidFill>
              </a:rPr>
              <a:t>as</a:t>
            </a:r>
            <a:r>
              <a:rPr lang="de-DE" sz="1100" b="0" i="0" dirty="0">
                <a:solidFill>
                  <a:srgbClr val="1A1A1A"/>
                </a:solidFill>
              </a:rPr>
              <a:t> a </a:t>
            </a:r>
            <a:r>
              <a:rPr lang="de-DE" sz="1100" b="1" i="0" dirty="0" err="1">
                <a:solidFill>
                  <a:srgbClr val="1A1A1A"/>
                </a:solidFill>
              </a:rPr>
              <a:t>compute</a:t>
            </a:r>
            <a:r>
              <a:rPr lang="de-DE" sz="1100" b="1" dirty="0">
                <a:solidFill>
                  <a:srgbClr val="1A1A1A"/>
                </a:solidFill>
              </a:rPr>
              <a:t>, </a:t>
            </a:r>
            <a:r>
              <a:rPr lang="de-DE" sz="1100" b="1" dirty="0" err="1">
                <a:solidFill>
                  <a:srgbClr val="1A1A1A"/>
                </a:solidFill>
              </a:rPr>
              <a:t>storage</a:t>
            </a:r>
            <a:r>
              <a:rPr lang="de-DE" sz="1100" b="1" dirty="0">
                <a:solidFill>
                  <a:srgbClr val="1A1A1A"/>
                </a:solidFill>
              </a:rPr>
              <a:t> </a:t>
            </a:r>
            <a:r>
              <a:rPr lang="de-DE" sz="1100" b="1" dirty="0" err="1">
                <a:solidFill>
                  <a:srgbClr val="1A1A1A"/>
                </a:solidFill>
              </a:rPr>
              <a:t>or</a:t>
            </a:r>
            <a:r>
              <a:rPr lang="de-DE" sz="1100" b="1" dirty="0">
                <a:solidFill>
                  <a:srgbClr val="1A1A1A"/>
                </a:solidFill>
              </a:rPr>
              <a:t> </a:t>
            </a:r>
            <a:r>
              <a:rPr lang="de-DE" sz="1100" b="1" dirty="0" err="1">
                <a:solidFill>
                  <a:srgbClr val="1A1A1A"/>
                </a:solidFill>
              </a:rPr>
              <a:t>control</a:t>
            </a:r>
            <a:r>
              <a:rPr lang="de-DE" sz="1100" b="1" dirty="0">
                <a:solidFill>
                  <a:srgbClr val="1A1A1A"/>
                </a:solidFill>
              </a:rPr>
              <a:t> </a:t>
            </a:r>
            <a:r>
              <a:rPr lang="de-DE" sz="1100" b="1" dirty="0" err="1">
                <a:solidFill>
                  <a:srgbClr val="1A1A1A"/>
                </a:solidFill>
              </a:rPr>
              <a:t>node</a:t>
            </a:r>
            <a:r>
              <a:rPr lang="de-DE" sz="1100" dirty="0">
                <a:solidFill>
                  <a:srgbClr val="1A1A1A"/>
                </a:solidFill>
              </a:rPr>
              <a:t>, </a:t>
            </a:r>
            <a:r>
              <a:rPr lang="de-DE" sz="1100" dirty="0" err="1">
                <a:solidFill>
                  <a:srgbClr val="1A1A1A"/>
                </a:solidFill>
              </a:rPr>
              <a:t>by</a:t>
            </a:r>
            <a:r>
              <a:rPr lang="de-DE" sz="1100" dirty="0">
                <a:solidFill>
                  <a:srgbClr val="1A1A1A"/>
                </a:solidFill>
              </a:rPr>
              <a:t> </a:t>
            </a:r>
            <a:r>
              <a:rPr lang="de-DE" sz="1100" dirty="0" err="1">
                <a:solidFill>
                  <a:srgbClr val="1A1A1A"/>
                </a:solidFill>
              </a:rPr>
              <a:t>installing</a:t>
            </a:r>
            <a:r>
              <a:rPr lang="de-DE" sz="1100" dirty="0">
                <a:solidFill>
                  <a:srgbClr val="1A1A1A"/>
                </a:solidFill>
              </a:rPr>
              <a:t> </a:t>
            </a:r>
            <a:r>
              <a:rPr lang="de-DE" sz="1100" dirty="0" err="1">
                <a:solidFill>
                  <a:srgbClr val="1A1A1A"/>
                </a:solidFill>
              </a:rPr>
              <a:t>the</a:t>
            </a:r>
            <a:r>
              <a:rPr lang="de-DE" sz="1100" dirty="0">
                <a:solidFill>
                  <a:srgbClr val="1A1A1A"/>
                </a:solidFill>
              </a:rPr>
              <a:t> </a:t>
            </a:r>
            <a:r>
              <a:rPr lang="de-DE" sz="1100" dirty="0" err="1">
                <a:solidFill>
                  <a:srgbClr val="1A1A1A"/>
                </a:solidFill>
              </a:rPr>
              <a:t>right</a:t>
            </a:r>
            <a:r>
              <a:rPr lang="de-DE" sz="1100" dirty="0">
                <a:solidFill>
                  <a:srgbClr val="1A1A1A"/>
                </a:solidFill>
              </a:rPr>
              <a:t> </a:t>
            </a:r>
            <a:r>
              <a:rPr lang="de-DE" sz="1100" dirty="0" err="1">
                <a:solidFill>
                  <a:srgbClr val="1A1A1A"/>
                </a:solidFill>
              </a:rPr>
              <a:t>parts</a:t>
            </a:r>
            <a:r>
              <a:rPr lang="de-DE" sz="1100" dirty="0">
                <a:solidFill>
                  <a:srgbClr val="1A1A1A"/>
                </a:solidFill>
              </a:rPr>
              <a:t> &amp; </a:t>
            </a:r>
            <a:r>
              <a:rPr lang="de-DE" sz="1100" dirty="0" err="1">
                <a:solidFill>
                  <a:srgbClr val="1A1A1A"/>
                </a:solidFill>
              </a:rPr>
              <a:t>software</a:t>
            </a:r>
            <a:r>
              <a:rPr lang="de-DE" sz="1100" dirty="0">
                <a:solidFill>
                  <a:srgbClr val="1A1A1A"/>
                </a:solidFill>
              </a:rPr>
              <a:t> </a:t>
            </a:r>
            <a:endParaRPr sz="1100" b="0" i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6416-7BCB-D377-C800-D33D093E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5B281B-1BBB-4827-3C26-05E368F4F42B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68255-AA7F-2C0D-8DAF-692E9802E810}"/>
              </a:ext>
            </a:extLst>
          </p:cNvPr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 — Physical Design: Node Roles &amp; Hardware BOM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70A5F-F8EB-793B-960B-6B20BA64F2AC}"/>
              </a:ext>
            </a:extLst>
          </p:cNvPr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Design the cluster topology on paper before purchasing a single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2DD3E-6A38-D3B5-1012-73572B954A75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6FF3A-64F5-7C15-0A3F-4462E456D58D}"/>
              </a:ext>
            </a:extLst>
          </p:cNvPr>
          <p:cNvSpPr/>
          <p:nvPr/>
        </p:nvSpPr>
        <p:spPr>
          <a:xfrm>
            <a:off x="320040" y="1170432"/>
            <a:ext cx="50292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6133E-76D8-C726-E458-8FA30ED9A74E}"/>
              </a:ext>
            </a:extLst>
          </p:cNvPr>
          <p:cNvSpPr txBox="1"/>
          <p:nvPr/>
        </p:nvSpPr>
        <p:spPr>
          <a:xfrm>
            <a:off x="365760" y="1188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Node Roles in an OpenStack Cluster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E88E92-AC57-88A2-FA53-21906A821AD0}"/>
              </a:ext>
            </a:extLst>
          </p:cNvPr>
          <p:cNvSpPr/>
          <p:nvPr/>
        </p:nvSpPr>
        <p:spPr>
          <a:xfrm>
            <a:off x="320040" y="1572768"/>
            <a:ext cx="274320" cy="749808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1658AC-6CC1-D1A4-3D6B-375675E472A7}"/>
              </a:ext>
            </a:extLst>
          </p:cNvPr>
          <p:cNvSpPr/>
          <p:nvPr/>
        </p:nvSpPr>
        <p:spPr>
          <a:xfrm>
            <a:off x="612648" y="1572768"/>
            <a:ext cx="4736592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200AB8-CD93-D863-93B8-DFFD8E662B9D}"/>
              </a:ext>
            </a:extLst>
          </p:cNvPr>
          <p:cNvSpPr txBox="1"/>
          <p:nvPr/>
        </p:nvSpPr>
        <p:spPr>
          <a:xfrm>
            <a:off x="685800" y="16276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35EC2"/>
                </a:solidFill>
              </a:rPr>
              <a:t>CONTROL PLANE NODES (×3)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7E990-A46B-DD16-4A4C-A5E2B36DA55D}"/>
              </a:ext>
            </a:extLst>
          </p:cNvPr>
          <p:cNvSpPr txBox="1"/>
          <p:nvPr/>
        </p:nvSpPr>
        <p:spPr>
          <a:xfrm>
            <a:off x="685800" y="1938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Run OpenStack APIs: Keystone, Nova,
Neutron, Glance, Cinder, Heat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07E6E4-B412-9FF2-4EF3-9E3F505A283D}"/>
              </a:ext>
            </a:extLst>
          </p:cNvPr>
          <p:cNvSpPr/>
          <p:nvPr/>
        </p:nvSpPr>
        <p:spPr>
          <a:xfrm>
            <a:off x="320040" y="2395728"/>
            <a:ext cx="274320" cy="749808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72CB07-4F0F-C95D-A666-61AF217A1089}"/>
              </a:ext>
            </a:extLst>
          </p:cNvPr>
          <p:cNvSpPr/>
          <p:nvPr/>
        </p:nvSpPr>
        <p:spPr>
          <a:xfrm>
            <a:off x="612648" y="2395728"/>
            <a:ext cx="4736592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42445-4262-1DD3-668D-2B6FD94F528D}"/>
              </a:ext>
            </a:extLst>
          </p:cNvPr>
          <p:cNvSpPr txBox="1"/>
          <p:nvPr/>
        </p:nvSpPr>
        <p:spPr>
          <a:xfrm>
            <a:off x="685800" y="24505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E8420"/>
                </a:solidFill>
              </a:rPr>
              <a:t>CEPH STORAGE NODES (×3+)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98EC0-71EF-ABBD-93CE-552D76C40995}"/>
              </a:ext>
            </a:extLst>
          </p:cNvPr>
          <p:cNvSpPr txBox="1"/>
          <p:nvPr/>
        </p:nvSpPr>
        <p:spPr>
          <a:xfrm>
            <a:off x="685800" y="27614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Object Storage Daemons (OSDs), Monitors
(MONs) — verifiable data placement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FD32DC-5F4D-CA93-F244-FF52D01240AC}"/>
              </a:ext>
            </a:extLst>
          </p:cNvPr>
          <p:cNvSpPr/>
          <p:nvPr/>
        </p:nvSpPr>
        <p:spPr>
          <a:xfrm>
            <a:off x="320040" y="3218688"/>
            <a:ext cx="274320" cy="74980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FBE790-12D6-7539-3ED9-32111330BE07}"/>
              </a:ext>
            </a:extLst>
          </p:cNvPr>
          <p:cNvSpPr/>
          <p:nvPr/>
        </p:nvSpPr>
        <p:spPr>
          <a:xfrm>
            <a:off x="612648" y="3218688"/>
            <a:ext cx="4736592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591AE3-D495-2C37-DB37-36E8C768C4C3}"/>
              </a:ext>
            </a:extLst>
          </p:cNvPr>
          <p:cNvSpPr txBox="1"/>
          <p:nvPr/>
        </p:nvSpPr>
        <p:spPr>
          <a:xfrm>
            <a:off x="685800" y="32735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95420"/>
                </a:solidFill>
              </a:rPr>
              <a:t>COMPUTE NODES / KVM HYPERVISORS (×4+)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BC4440-7451-5A60-6D5B-AC0A5A690E5F}"/>
              </a:ext>
            </a:extLst>
          </p:cNvPr>
          <p:cNvSpPr txBox="1"/>
          <p:nvPr/>
        </p:nvSpPr>
        <p:spPr>
          <a:xfrm>
            <a:off x="685800" y="3584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Run Nova-compute · host tenant VMs
KVM-based hardware virtualization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149EDE-C5FC-63FE-3AC8-071EA1566823}"/>
              </a:ext>
            </a:extLst>
          </p:cNvPr>
          <p:cNvSpPr/>
          <p:nvPr/>
        </p:nvSpPr>
        <p:spPr>
          <a:xfrm>
            <a:off x="320040" y="4041648"/>
            <a:ext cx="274320" cy="749808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31397A-140E-3004-F69E-C67EAD2DDA8F}"/>
              </a:ext>
            </a:extLst>
          </p:cNvPr>
          <p:cNvSpPr/>
          <p:nvPr/>
        </p:nvSpPr>
        <p:spPr>
          <a:xfrm>
            <a:off x="612648" y="4041648"/>
            <a:ext cx="4736592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0BBD31-96AA-9EB5-5AE8-A79AC341A4B6}"/>
              </a:ext>
            </a:extLst>
          </p:cNvPr>
          <p:cNvSpPr txBox="1"/>
          <p:nvPr/>
        </p:nvSpPr>
        <p:spPr>
          <a:xfrm>
            <a:off x="685800" y="40965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8782"/>
                </a:solidFill>
              </a:rPr>
              <a:t>NETWORK / EDGE NODES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0F9E08-F611-A7CA-5831-4E947DC2977A}"/>
              </a:ext>
            </a:extLst>
          </p:cNvPr>
          <p:cNvSpPr txBox="1"/>
          <p:nvPr/>
        </p:nvSpPr>
        <p:spPr>
          <a:xfrm>
            <a:off x="685800" y="44074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Move data between ports at very high speed
Gateway to internet / DE-CIX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AF8D95-0440-BE4B-B56A-A1E917F5314D}"/>
              </a:ext>
            </a:extLst>
          </p:cNvPr>
          <p:cNvSpPr/>
          <p:nvPr/>
        </p:nvSpPr>
        <p:spPr>
          <a:xfrm>
            <a:off x="320040" y="4864608"/>
            <a:ext cx="50292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809116-E18F-BB38-8DC9-E6E7BC486655}"/>
              </a:ext>
            </a:extLst>
          </p:cNvPr>
          <p:cNvSpPr txBox="1"/>
          <p:nvPr/>
        </p:nvSpPr>
        <p:spPr>
          <a:xfrm>
            <a:off x="365760" y="49011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Network Devices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392CE-1408-1705-12D1-97BD5B820BA0}"/>
              </a:ext>
            </a:extLst>
          </p:cNvPr>
          <p:cNvSpPr/>
          <p:nvPr/>
        </p:nvSpPr>
        <p:spPr>
          <a:xfrm>
            <a:off x="320040" y="5230368"/>
            <a:ext cx="50292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2F9A53-DF4E-442A-4D39-2784396E99F5}"/>
              </a:ext>
            </a:extLst>
          </p:cNvPr>
          <p:cNvSpPr txBox="1"/>
          <p:nvPr/>
        </p:nvSpPr>
        <p:spPr>
          <a:xfrm>
            <a:off x="411480" y="52760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▸  Routers — connect cluster to the outside world (ISP / DE-CIX)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828FCD-E29E-3234-C3FC-4CE134D49B43}"/>
              </a:ext>
            </a:extLst>
          </p:cNvPr>
          <p:cNvSpPr/>
          <p:nvPr/>
        </p:nvSpPr>
        <p:spPr>
          <a:xfrm>
            <a:off x="320040" y="5724144"/>
            <a:ext cx="50292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59DF4A-1F9A-0949-AB83-B5E86A2F7A4C}"/>
              </a:ext>
            </a:extLst>
          </p:cNvPr>
          <p:cNvSpPr txBox="1"/>
          <p:nvPr/>
        </p:nvSpPr>
        <p:spPr>
          <a:xfrm>
            <a:off x="411480" y="5769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▸  Top-of-Rack (ToR) switches — connect servers to each other within a rack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39B55A-BBF0-61AF-426B-AA2AEA2E5625}"/>
              </a:ext>
            </a:extLst>
          </p:cNvPr>
          <p:cNvSpPr/>
          <p:nvPr/>
        </p:nvSpPr>
        <p:spPr>
          <a:xfrm>
            <a:off x="320040" y="6217920"/>
            <a:ext cx="50292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E82C8D-BFA3-1189-778F-A17EB9B9C862}"/>
              </a:ext>
            </a:extLst>
          </p:cNvPr>
          <p:cNvSpPr txBox="1"/>
          <p:nvPr/>
        </p:nvSpPr>
        <p:spPr>
          <a:xfrm>
            <a:off x="411480" y="62636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▸  Out-of-band management switch — connected to every server's BMC/IPMI port
  (SRE engineers can remotely access any server even if OS is down)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58A1B3-9B9D-2FD7-CF72-0FFCF0E23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608" y="1094041"/>
            <a:ext cx="4524375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3318A31-E75A-96E5-1095-388862BAB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133" y="3968496"/>
            <a:ext cx="47910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13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2202-3C02-D54A-3B2F-FA49A381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019B29-B9A0-065C-248D-80C7FA40608D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25734-C140-351D-9F05-19A5A1CED470}"/>
              </a:ext>
            </a:extLst>
          </p:cNvPr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 — Physical Design: Node Roles &amp; Hardware BOM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A7AB3-A22C-6220-825E-F5A0455DAA85}"/>
              </a:ext>
            </a:extLst>
          </p:cNvPr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Design the cluster topology on paper before purchasing a single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750CA5-8AC0-E519-5852-B9F7D859C014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0A48EB4-9158-D175-7978-72CB5E36C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8406" y="1309687"/>
            <a:ext cx="573405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63962D1-5E1A-F3C2-3EED-588A88AF8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644" y="1951864"/>
            <a:ext cx="573405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725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3143A-8014-D986-9335-0EA8397E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AAFE0-5DCF-320B-5815-4EB9C5E398A8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69891-EA0B-35DA-6037-BDDDB1BE5B66}"/>
              </a:ext>
            </a:extLst>
          </p:cNvPr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Step 1 — Physical Design: Node Roles &amp; Hardware BOM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CD043-7F35-8331-32DB-9BFAF7F1FB52}"/>
              </a:ext>
            </a:extLst>
          </p:cNvPr>
          <p:cNvSpPr txBox="1"/>
          <p:nvPr/>
        </p:nvSpPr>
        <p:spPr>
          <a:xfrm>
            <a:off x="365760" y="749808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300" dirty="0">
                <a:solidFill>
                  <a:srgbClr val="FFD0B0"/>
                </a:solidFill>
              </a:rPr>
              <a:t>Hardware </a:t>
            </a:r>
            <a:r>
              <a:rPr lang="de-DE" sz="1300" dirty="0" err="1">
                <a:solidFill>
                  <a:srgbClr val="FFD0B0"/>
                </a:solidFill>
              </a:rPr>
              <a:t>sovereignity</a:t>
            </a:r>
            <a:r>
              <a:rPr lang="de-DE" sz="1300" dirty="0">
                <a:solidFill>
                  <a:srgbClr val="FFD0B0"/>
                </a:solidFill>
              </a:rPr>
              <a:t> </a:t>
            </a:r>
            <a:r>
              <a:rPr lang="de-DE" sz="1300" dirty="0" err="1">
                <a:solidFill>
                  <a:srgbClr val="FFD0B0"/>
                </a:solidFill>
              </a:rPr>
              <a:t>concerns</a:t>
            </a:r>
            <a:r>
              <a:rPr lang="de-DE" sz="1300" dirty="0">
                <a:solidFill>
                  <a:srgbClr val="FFD0B0"/>
                </a:solidFill>
              </a:rPr>
              <a:t> – Manufakturen &amp; </a:t>
            </a:r>
            <a:r>
              <a:rPr lang="de-DE" sz="1300" dirty="0" err="1">
                <a:solidFill>
                  <a:srgbClr val="FFD0B0"/>
                </a:solidFill>
              </a:rPr>
              <a:t>Produced</a:t>
            </a:r>
            <a:r>
              <a:rPr lang="de-DE" sz="1300" dirty="0">
                <a:solidFill>
                  <a:srgbClr val="FFD0B0"/>
                </a:solidFill>
              </a:rPr>
              <a:t> </a:t>
            </a:r>
            <a:endParaRPr sz="1300" b="0" i="0" dirty="0">
              <a:solidFill>
                <a:srgbClr val="FFD0B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0FBE3-5A4E-62C2-1A9C-4626C7159607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3E0B555-95B5-6897-1C3C-047CEA2B0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224" y="647307"/>
            <a:ext cx="4951190" cy="595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420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2 — Network Underlay: Separating Traffic into Isolated 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VLAN tagging is how one physical wire carries multiple completely separate conversations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Servers communicate over physical cables. Mixing different types of traffic (management, storage, tenant data) on the same wire is both a security risk and a performance risk. The solution: VLAN tagging — every packet gets a small tag stamped on it saying which network it belongs to. The switch reads the tag and keeps conversations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29968"/>
            <a:ext cx="11521440" cy="713232"/>
          </a:xfrm>
          <a:prstGeom prst="rect">
            <a:avLst/>
          </a:prstGeom>
          <a:solidFill>
            <a:srgbClr val="F2F2F2"/>
          </a:solidFill>
          <a:ln w="2540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029968"/>
            <a:ext cx="164592" cy="713232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5420"/>
                </a:solidFill>
              </a:rPr>
              <a:t>VLAN 10 — Management / OOB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SSH, IPMI/BMC access, Ansible playbooks, SRE remote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79776"/>
            <a:ext cx="11521440" cy="713232"/>
          </a:xfrm>
          <a:prstGeom prst="rect">
            <a:avLst/>
          </a:prstGeom>
          <a:solidFill>
            <a:srgbClr val="F2F2F2"/>
          </a:solidFill>
          <a:ln w="254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779776"/>
            <a:ext cx="164592" cy="713232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5EC2"/>
                </a:solidFill>
              </a:rPr>
              <a:t>VLAN 20 — OpenStack Control Plane (APIs)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4553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Keystone, Nova, Neutron, Glance, Cinder API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29584"/>
            <a:ext cx="11521440" cy="713232"/>
          </a:xfrm>
          <a:prstGeom prst="rect">
            <a:avLst/>
          </a:prstGeom>
          <a:solidFill>
            <a:srgbClr val="F2F2F2"/>
          </a:solidFill>
          <a:ln w="2540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529584"/>
            <a:ext cx="164592" cy="713232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84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8420"/>
                </a:solidFill>
              </a:rPr>
              <a:t>VLAN 30 — Ceph Storage / Replication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OSD-to-OSD replication, client-to-OSD storage I/O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79392"/>
            <a:ext cx="11521440" cy="713232"/>
          </a:xfrm>
          <a:prstGeom prst="rect">
            <a:avLst/>
          </a:prstGeom>
          <a:solidFill>
            <a:srgbClr val="F2F2F2"/>
          </a:solidFill>
          <a:ln w="254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279392"/>
            <a:ext cx="164592" cy="713232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342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82"/>
                </a:solidFill>
              </a:rPr>
              <a:t>VLAN 40 — Tenant / VM Data (East-West)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45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VM-to-VM traffic inside customer virtual networks (VXLAN overlay)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9200"/>
            <a:ext cx="11521440" cy="713232"/>
          </a:xfrm>
          <a:prstGeom prst="rect">
            <a:avLst/>
          </a:prstGeom>
          <a:solidFill>
            <a:srgbClr val="F2F2F2"/>
          </a:solidFill>
          <a:ln w="25400">
            <a:solidFill>
              <a:srgbClr val="6C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5029200"/>
            <a:ext cx="164592" cy="713232"/>
          </a:xfrm>
          <a:prstGeom prst="rect">
            <a:avLst/>
          </a:prstGeom>
          <a:solidFill>
            <a:srgbClr val="6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8406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FAA"/>
                </a:solidFill>
              </a:rPr>
              <a:t>VLAN 50 — External / Internet (North-South)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Customer VMs reaching the internet; DE-CIX peering uplink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87044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75757"/>
                </a:solidFill>
              </a:rPr>
              <a:t>The switch reads the VLAN tag on arrival and decides where the packet is allowed to go next — traffic from VLAN 30 (storage) never reaches VLAN 40 (tenant), even on shared physical cables.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C7B34CE-3C32-E63A-A0BD-8DE45E2F2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398" y="2021205"/>
            <a:ext cx="573405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3 — Installing OpenStack: Turning Bare Metal into 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Kolla-Ansible packages OpenStack services as containers — installed in a strict dependency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Kolla-Ansible SSHes into every server and installs the necessary containers in this order: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11521440" cy="804672"/>
          </a:xfrm>
          <a:prstGeom prst="rect">
            <a:avLst/>
          </a:prstGeom>
          <a:solidFill>
            <a:srgbClr val="F2F2F2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228600" cy="8046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70078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1. KEYSTONE — Identity &amp;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The first service installed. Every other OpenStack service must prove its identity to Keystone before it can do anything. Nothing works without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505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5420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11521440" cy="804672"/>
          </a:xfrm>
          <a:prstGeom prst="rect">
            <a:avLst/>
          </a:prstGeom>
          <a:solidFill>
            <a:srgbClr val="F2F2F2"/>
          </a:solidFill>
          <a:ln w="2540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651760"/>
            <a:ext cx="228600" cy="804672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7249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35EC2"/>
                </a:solidFill>
              </a:rPr>
              <a:t>2. GLANCE — Image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035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Stores VM templates (e.g. 'Ubuntu 22.04' disk image). Nova will later clone these images onto compute nodes to create new VMs.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747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5420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75888"/>
            <a:ext cx="11521440" cy="804672"/>
          </a:xfrm>
          <a:prstGeom prst="rect">
            <a:avLst/>
          </a:prstGeom>
          <a:solidFill>
            <a:srgbClr val="F2F2F2"/>
          </a:solidFill>
          <a:ln w="2540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675888"/>
            <a:ext cx="228600" cy="804672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7490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782"/>
                </a:solidFill>
              </a:rPr>
              <a:t>3. NEUTRON — Networking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0599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Configured with the actual VLAN ranges from Step 2. Creates virtual networks, routers, security groups — the networking fabric for all tenant VMs.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988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5420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0016"/>
            <a:ext cx="11521440" cy="804672"/>
          </a:xfrm>
          <a:prstGeom prst="rect">
            <a:avLst/>
          </a:prstGeom>
          <a:solidFill>
            <a:srgbClr val="F2F2F2"/>
          </a:solidFill>
          <a:ln w="2540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700016"/>
            <a:ext cx="228600" cy="804672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773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5420"/>
                </a:solidFill>
              </a:rPr>
              <a:t>4. NOVA — Compute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0840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Once identity, images, and networking exist, Nova does its real job: receive a 'give me a VM' request, pick a compute node, and boot it via KVM.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5229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5420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724144"/>
            <a:ext cx="11521440" cy="804672"/>
          </a:xfrm>
          <a:prstGeom prst="rect">
            <a:avLst/>
          </a:prstGeom>
          <a:solidFill>
            <a:srgbClr val="F2F2F2"/>
          </a:solidFill>
          <a:ln w="2540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5724144"/>
            <a:ext cx="228600" cy="804672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57972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E8420"/>
                </a:solidFill>
              </a:rPr>
              <a:t>5. CINDER — Block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Wired to talk to the Ceph storage nodes. Provides persistent VM disks that survive VM restarts — backed by Ceph pools for resilience and redundancy.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4 — First Boot: Standing Up the Cloud for Customer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OpenStack is running — now configure it and prove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3703320" cy="411480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①  Define Tenant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81912"/>
            <a:ext cx="3703320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673352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Use Neutron to create the customer's virtual network: private IP range, virtual router, external gateway. This is where the VLAN plan from Step 2 becomes a concrete, usable network.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170432"/>
            <a:ext cx="3703320" cy="411480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②  Upload Base Image via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581912"/>
            <a:ext cx="3703320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1673352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Upload an Ubuntu or Debian disk image. This is the template Nova clones every time a new VM is requested. One image → unlimited VMs.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170432"/>
            <a:ext cx="3703320" cy="41148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③  Define Flavors (VM Sizes)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581912"/>
            <a:ext cx="3703320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673352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Nova's term for VM sizes — your product catalogue:
e.g. 2 vCPU / 4GB RAM · 8 vCPU / 32GB RAM · 32 vCPU / 128GB RAM.
These are the sizes Customer Zero (and future customers) can request.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21024"/>
            <a:ext cx="3703320" cy="411480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685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④  Create Cinder Volume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32504"/>
            <a:ext cx="3703320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4123944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Map Cinder storage tiers to the Ceph pools built in Step 1 so VMs can request persistent block storage backed by Ceph.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621024"/>
            <a:ext cx="3703320" cy="411480"/>
          </a:xfrm>
          <a:prstGeom prst="rect">
            <a:avLst/>
          </a:prstGeom>
          <a:solidFill>
            <a:srgbClr val="6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3685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⑤  Boot the First Test VM — the 'Does This Work?' Moment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4032504"/>
            <a:ext cx="3703320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6C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34256" y="4123944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Request a VM, watch Nova pick a compute node, Glance hand over the image, Cinder attach a disk, Neutron assign a network address. If the VM boots and answers a ping → the cloud is technically alive.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6" y="3621024"/>
            <a:ext cx="37033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685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⑥  Onboard Customer Zero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9016" y="4032504"/>
            <a:ext cx="3703320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38744" y="4123944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Migrate or deploy the anchor customer's actual workload onto the live cloud. Operate as an 'illusion of infinite capacity' — the mandate is to never say no when a customer asks for a machine.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Canonical Products &amp; Reference Adopters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Open-source sovereign cloud at every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2148840" cy="38404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OpenStack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14884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75757"/>
                </a:solidFill>
              </a:rPr>
              <a:t>MicroCloud / Canonical OpenStack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10512"/>
            <a:ext cx="214884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901952"/>
            <a:ext cx="1984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Open-source cloud operating system. Controls large pools of compute, storage, and networking resources across a data centre. Scales from a 3-node lab to a hyperscale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1170432"/>
            <a:ext cx="2148840" cy="384048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15184" y="1188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Ceph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554480"/>
            <a:ext cx="214884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15184" y="15727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75757"/>
                </a:solidFill>
              </a:rPr>
              <a:t>Distributed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810512"/>
            <a:ext cx="214884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06624" y="1901952"/>
            <a:ext cx="1984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Data sovereignty is not only a location question. Ceph provides:
• Verifiable data placement
• Cloud-compatible storage under your own control
• Resilience by design
• No dependency on proprietary storage platforms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0328" y="1170432"/>
            <a:ext cx="2148840" cy="384048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0328" y="1188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KVM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554480"/>
            <a:ext cx="214884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0328" y="15727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75757"/>
                </a:solidFill>
              </a:rPr>
              <a:t>Kernel-based Virtual Machine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0328" y="1810512"/>
            <a:ext cx="214884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1901952"/>
            <a:ext cx="1984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The 'centre of gravity' of open virtualization. KVM is a Linux kernel module — not controlled by any single company. Many organisations contribute to it. The hypervisor of choice for AWS, Alibaba, IBM, Oracle.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1170432"/>
            <a:ext cx="2148840" cy="384048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1188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MAAS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5472" y="1554480"/>
            <a:ext cx="214884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5472" y="15727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75757"/>
                </a:solidFill>
              </a:rPr>
              <a:t>Metal as a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1810512"/>
            <a:ext cx="214884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96912" y="1901952"/>
            <a:ext cx="1984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Operational sovereignty starts at the metal. MAAS provides bare-metal provisioning and full hardware lifecycle control — discover, commission, deploy, and decommission servers remotely via API. No manual BIOS 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0616" y="1170432"/>
            <a:ext cx="2148840" cy="384048"/>
          </a:xfrm>
          <a:prstGeom prst="rect">
            <a:avLst/>
          </a:prstGeom>
          <a:solidFill>
            <a:srgbClr val="6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0616" y="1188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Ubuntu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0616" y="1554480"/>
            <a:ext cx="214884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0616" y="15727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75757"/>
                </a:solidFill>
              </a:rPr>
              <a:t>OS Base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0616" y="1810512"/>
            <a:ext cx="214884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6C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92056" y="1901952"/>
            <a:ext cx="19842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The open-source OS underpinning the entire stack — from bare metal to container runtime. Long-term support (LTS) releases, security patching, and Canonical's commercial support contracts provide enterprise-grade SLAs.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66360"/>
            <a:ext cx="115214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1846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Reference Adopters of Canonical Sovereign Stacks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532120"/>
            <a:ext cx="5623560" cy="10058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5420"/>
                </a:solidFill>
              </a:rPr>
              <a:t>UNICC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577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United Nations International Computing Centre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961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Sovereign cloud for UN agencies globally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5532120"/>
            <a:ext cx="5623560" cy="10058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5577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5420"/>
                </a:solidFill>
              </a:rPr>
              <a:t>UIDAI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577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Unique Identification Authority of India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961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Digital identity infrastructure for 1.4+ billion people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B0"/>
                </a:solidFill>
              </a:rPr>
              <a:t>Canonical · Building Sovereign Cloud ·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457200" cy="841248"/>
          </a:xfrm>
          <a:prstGeom prst="rect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457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1170432"/>
            <a:ext cx="11064240" cy="841248"/>
          </a:xfrm>
          <a:prstGeom prst="rect">
            <a:avLst/>
          </a:prstGeom>
          <a:solidFill>
            <a:srgbClr val="F2F2F2"/>
          </a:solidFill>
          <a:ln w="19050">
            <a:solidFill>
              <a:srgbClr val="E95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2529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5420"/>
                </a:solidFill>
              </a:rPr>
              <a:t>Sovereignty is driven by geopolitics, regulation, and economics — not just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72768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The threat is strategic: lock-in pricing, foreign jurisdiction, and supply-chain risk are
existential for mission-critical infrastructure.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48256"/>
            <a:ext cx="457200" cy="841248"/>
          </a:xfrm>
          <a:prstGeom prst="rect">
            <a:avLst/>
          </a:prstGeom>
          <a:solidFill>
            <a:srgbClr val="23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231136"/>
            <a:ext cx="457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048256"/>
            <a:ext cx="11064240" cy="841248"/>
          </a:xfrm>
          <a:prstGeom prst="rect">
            <a:avLst/>
          </a:prstGeom>
          <a:solidFill>
            <a:srgbClr val="F2F2F2"/>
          </a:solidFill>
          <a:ln w="19050">
            <a:solidFill>
              <a:srgbClr val="23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1031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5EC2"/>
                </a:solidFill>
              </a:rPr>
              <a:t>Know your legal instruments.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45059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Regulations (GDPR, DORA, CRA) apply directly and uniformly.
NIS2 is a Directive — reach you through 27 different national laws.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26080"/>
            <a:ext cx="457200" cy="841248"/>
          </a:xfrm>
          <a:prstGeom prst="rect">
            <a:avLst/>
          </a:prstGeom>
          <a:solidFill>
            <a:srgbClr val="0E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3108960"/>
            <a:ext cx="457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2926080"/>
            <a:ext cx="11064240" cy="841248"/>
          </a:xfrm>
          <a:prstGeom prst="rect">
            <a:avLst/>
          </a:prstGeom>
          <a:solidFill>
            <a:srgbClr val="F2F2F2"/>
          </a:solidFill>
          <a:ln w="19050">
            <a:solidFill>
              <a:srgbClr val="0E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298094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420"/>
                </a:solidFill>
              </a:rPr>
              <a:t>Sovereignty is a full-stack property.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32841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Hardware → OS → virtualization → networking → storage → observability → application.
A sovereign app on a non-sovereign layer below it is NOT sovereign.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03904"/>
            <a:ext cx="457200" cy="841248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986784"/>
            <a:ext cx="457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" y="3803904"/>
            <a:ext cx="11064240" cy="841248"/>
          </a:xfrm>
          <a:prstGeom prst="rect">
            <a:avLst/>
          </a:prstGeom>
          <a:solidFill>
            <a:srgbClr val="F2F2F2"/>
          </a:solidFill>
          <a:ln w="1905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8587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82"/>
                </a:solidFill>
              </a:rPr>
              <a:t>Open source is the natural foundation — but necessary, not sufficient.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0624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KVM, OpenStack, Ceph, and Ubuntu give you freedom from vendor lock-in.
Operations, data placement, and the full stack must also be under your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81728"/>
            <a:ext cx="457200" cy="841248"/>
          </a:xfrm>
          <a:prstGeom prst="rect">
            <a:avLst/>
          </a:prstGeom>
          <a:solidFill>
            <a:srgbClr val="6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4864608"/>
            <a:ext cx="457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4681728"/>
            <a:ext cx="11064240" cy="841248"/>
          </a:xfrm>
          <a:prstGeom prst="rect">
            <a:avLst/>
          </a:prstGeom>
          <a:solidFill>
            <a:srgbClr val="F2F2F2"/>
          </a:solidFill>
          <a:ln w="19050">
            <a:solidFill>
              <a:srgbClr val="6C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73659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FAA"/>
                </a:solidFill>
              </a:rPr>
              <a:t>Build in phases: Customer Zero → IaaS → thin managed services → certify.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084064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Start in colocation, with OpenStack + Ceph + KVM + Kolla-Ansible.
Hire the six critical profiles — talent scarcity is itself a sovereignty constraint.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59552"/>
            <a:ext cx="457200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5742432"/>
            <a:ext cx="457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" y="5559552"/>
            <a:ext cx="11064240" cy="841248"/>
          </a:xfrm>
          <a:prstGeom prst="rect">
            <a:avLst/>
          </a:prstGeom>
          <a:solidFill>
            <a:srgbClr val="F2F2F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61441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Operational sovereignty starts at the metal.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961888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MAAS for hardware control. Kolla-Ansible for repeatable deployment.
The 'illusion of infinite capacity' is the operating mandate.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3343</Words>
  <Application>Microsoft Office PowerPoint</Application>
  <PresentationFormat>Custom</PresentationFormat>
  <Paragraphs>321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Ihonosetale Oseghale</cp:lastModifiedBy>
  <cp:revision>2</cp:revision>
  <dcterms:created xsi:type="dcterms:W3CDTF">2013-01-27T09:14:16Z</dcterms:created>
  <dcterms:modified xsi:type="dcterms:W3CDTF">2026-09-21T09:13:55Z</dcterms:modified>
  <cp:category/>
</cp:coreProperties>
</file>